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diagrams/colors1.xml" ContentType="application/vnd.openxmlformats-officedocument.drawingml.diagramColors+xml"/>
  <Override PartName="/ppt/diagrams/data1.xml" ContentType="application/vnd.openxmlformats-officedocument.drawingml.diagramData+xml"/>
  <Override PartName="/ppt/diagrams/drawing1.xml" ContentType="application/vnd.ms-office.drawingml.diagramDrawing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media/image11.svg" ContentType="image/svg+xml"/>
  <Override PartName="/ppt/media/image13.svg" ContentType="image/svg+xml"/>
  <Override PartName="/ppt/media/image15.svg" ContentType="image/svg+xml"/>
  <Override PartName="/ppt/media/image17.svg" ContentType="image/svg+xml"/>
  <Override PartName="/ppt/media/image23.svg" ContentType="image/svg+xml"/>
  <Override PartName="/ppt/media/image25.svg" ContentType="image/svg+xml"/>
  <Override PartName="/ppt/media/image4.svg" ContentType="image/svg+xml"/>
  <Override PartName="/ppt/media/image6.svg" ContentType="image/svg+xml"/>
  <Override PartName="/ppt/media/image9.svg" ContentType="image/svg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39" r:id="rId1"/>
  </p:sldMasterIdLst>
  <p:sldIdLst>
    <p:sldId id="257" r:id="rId2"/>
    <p:sldId id="258" r:id="rId3"/>
    <p:sldId id="284" r:id="rId4"/>
    <p:sldId id="260" r:id="rId5"/>
    <p:sldId id="259" r:id="rId6"/>
    <p:sldId id="285" r:id="rId7"/>
    <p:sldId id="261" r:id="rId8"/>
    <p:sldId id="286" r:id="rId9"/>
    <p:sldId id="262" r:id="rId10"/>
    <p:sldId id="282" r:id="rId11"/>
    <p:sldId id="283" r:id="rId12"/>
    <p:sldId id="263" r:id="rId13"/>
    <p:sldId id="287" r:id="rId14"/>
    <p:sldId id="290" r:id="rId15"/>
    <p:sldId id="288" r:id="rId16"/>
    <p:sldId id="289" r:id="rId17"/>
    <p:sldId id="291" r:id="rId18"/>
    <p:sldId id="292" r:id="rId1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>
        <p:scale>
          <a:sx n="75" d="100"/>
          <a:sy n="75" d="100"/>
        </p:scale>
        <p:origin x="250" y="1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" Type="http://schemas.openxmlformats.org/officeDocument/2006/relationships/slide" Target="slides/slide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/Relationships>
</file>

<file path=ppt/diagrams/_rels/data1.xml.rels><?xml version='1.0' encoding='UTF-8' standalone='yes'?>
<Relationships xmlns="http://schemas.openxmlformats.org/package/2006/relationships"><Relationship Id="rId1" Type="http://schemas.openxmlformats.org/officeDocument/2006/relationships/image" Target="../media/image8.png"/><Relationship Id="rId2" Type="http://schemas.openxmlformats.org/officeDocument/2006/relationships/image" Target="../media/image9.svg"/><Relationship Id="rId3" Type="http://schemas.openxmlformats.org/officeDocument/2006/relationships/image" Target="../media/image10.png"/><Relationship Id="rId4" Type="http://schemas.openxmlformats.org/officeDocument/2006/relationships/image" Target="../media/image11.svg"/><Relationship Id="rId5" Type="http://schemas.openxmlformats.org/officeDocument/2006/relationships/image" Target="../media/image12.png"/><Relationship Id="rId6" Type="http://schemas.openxmlformats.org/officeDocument/2006/relationships/image" Target="../media/image13.svg"/></Relationships>
</file>

<file path=ppt/diagrams/_rels/drawing1.xml.rels><?xml version='1.0' encoding='UTF-8' standalone='yes'?>
<Relationships xmlns="http://schemas.openxmlformats.org/package/2006/relationships"><Relationship Id="rId1" Type="http://schemas.openxmlformats.org/officeDocument/2006/relationships/image" Target="../media/image8.png"/><Relationship Id="rId2" Type="http://schemas.openxmlformats.org/officeDocument/2006/relationships/image" Target="../media/image9.svg"/><Relationship Id="rId3" Type="http://schemas.openxmlformats.org/officeDocument/2006/relationships/image" Target="../media/image10.png"/><Relationship Id="rId4" Type="http://schemas.openxmlformats.org/officeDocument/2006/relationships/image" Target="../media/image11.svg"/><Relationship Id="rId5" Type="http://schemas.openxmlformats.org/officeDocument/2006/relationships/image" Target="../media/image12.png"/><Relationship Id="rId6" Type="http://schemas.openxmlformats.org/officeDocument/2006/relationships/image" Target="../media/image13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neutralbg_accent4_2">
  <dgm:title val=""/>
  <dgm:desc val=""/>
  <dgm:catLst>
    <dgm:cat type="accent4" pri="142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4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4"/>
    </dgm:fillClrLst>
    <dgm:linClrLst meth="repeat">
      <a:schemeClr val="accent4"/>
    </dgm:linClrLst>
    <dgm:effectClrLst/>
    <dgm:txLinClrLst/>
    <dgm:txFillClrLst/>
    <dgm:txEffectClrLst/>
  </dgm:styleLbl>
  <dgm:styleLbl name="lnNode1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4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4"/>
    </dgm:fillClrLst>
    <dgm:linClrLst meth="repeat">
      <a:schemeClr val="accent4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4"/>
    </dgm:fillClrLst>
    <dgm:linClrLst meth="repeat">
      <a:schemeClr val="accent4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4"/>
    </dgm:fillClrLst>
    <dgm:linClrLst meth="repeat">
      <a:schemeClr val="accent4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/>
    </dgm:fillClrLst>
    <dgm:linClrLst meth="repeat">
      <a:schemeClr val="accent4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4"/>
    </dgm:fillClrLst>
    <dgm:linClrLst meth="repeat">
      <a:schemeClr val="accent4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4">
        <a:shade val="8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4">
        <a:tint val="50000"/>
        <a:alpha val="4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4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78C54DEA-77B9-4300-80FC-8ABF75601646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accent4_2" csCatId="accent4" phldr="1"/>
      <dgm:spPr/>
      <dgm:t>
        <a:bodyPr/>
        <a:lstStyle/>
        <a:p>
          <a:endParaRPr lang="en-US"/>
        </a:p>
      </dgm:t>
    </dgm:pt>
    <dgm:pt modelId="{E27C2876-F92B-40E4-B463-2E5AFACB2F0B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1"/>
            <a:t>. </a:t>
          </a:r>
          <a:r>
            <a:rPr lang="en-US"/>
            <a:t>The </a:t>
          </a:r>
          <a:r>
            <a:rPr lang="en-US" b="1"/>
            <a:t>TX line</a:t>
          </a:r>
          <a:r>
            <a:rPr lang="en-US"/>
            <a:t> sends data from the UART transmitter to the receiver of another device.</a:t>
          </a:r>
        </a:p>
      </dgm:t>
    </dgm:pt>
    <dgm:pt modelId="{1873ADFA-656E-4083-A45F-B2D81AA8A35D}" type="parTrans" cxnId="{E3D8ECE7-6EB9-4E8D-940F-2EE455B5602C}">
      <dgm:prSet/>
      <dgm:spPr/>
      <dgm:t>
        <a:bodyPr/>
        <a:lstStyle/>
        <a:p>
          <a:endParaRPr lang="en-US"/>
        </a:p>
      </dgm:t>
    </dgm:pt>
    <dgm:pt modelId="{19D5964C-8E73-4A89-98AD-CC0F3B571695}" type="sibTrans" cxnId="{E3D8ECE7-6EB9-4E8D-940F-2EE455B5602C}">
      <dgm:prSet/>
      <dgm:spPr/>
      <dgm:t>
        <a:bodyPr/>
        <a:lstStyle/>
        <a:p>
          <a:endParaRPr lang="en-US"/>
        </a:p>
      </dgm:t>
    </dgm:pt>
    <dgm:pt modelId="{DE112F7F-5222-4C8E-8868-F3DF3F40A454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The data is framed with:</a:t>
          </a:r>
        </a:p>
      </dgm:t>
    </dgm:pt>
    <dgm:pt modelId="{AFB20C23-4200-4B1B-883A-227937D2E0B7}" type="parTrans" cxnId="{451ABF01-EFF2-4A16-998E-734305FEF381}">
      <dgm:prSet/>
      <dgm:spPr/>
      <dgm:t>
        <a:bodyPr/>
        <a:lstStyle/>
        <a:p>
          <a:endParaRPr lang="en-US"/>
        </a:p>
      </dgm:t>
    </dgm:pt>
    <dgm:pt modelId="{5E0C7F53-9D3F-4C57-8B8E-8851F6B651B2}" type="sibTrans" cxnId="{451ABF01-EFF2-4A16-998E-734305FEF381}">
      <dgm:prSet/>
      <dgm:spPr/>
      <dgm:t>
        <a:bodyPr/>
        <a:lstStyle/>
        <a:p>
          <a:endParaRPr lang="en-US"/>
        </a:p>
      </dgm:t>
    </dgm:pt>
    <dgm:pt modelId="{506B380F-F4DD-48A6-BFFE-490F945AA601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1"/>
            <a:t>Start bit</a:t>
          </a:r>
          <a:endParaRPr lang="en-US"/>
        </a:p>
      </dgm:t>
    </dgm:pt>
    <dgm:pt modelId="{8C4BAD36-D71D-4C28-B246-0B768833B4DD}" type="parTrans" cxnId="{BC4545CD-1A9E-4822-BA9F-19876E7429FB}">
      <dgm:prSet/>
      <dgm:spPr/>
      <dgm:t>
        <a:bodyPr/>
        <a:lstStyle/>
        <a:p>
          <a:endParaRPr lang="en-US"/>
        </a:p>
      </dgm:t>
    </dgm:pt>
    <dgm:pt modelId="{688AAC07-3A60-4AD8-8658-DCAA345442FA}" type="sibTrans" cxnId="{BC4545CD-1A9E-4822-BA9F-19876E7429FB}">
      <dgm:prSet/>
      <dgm:spPr/>
      <dgm:t>
        <a:bodyPr/>
        <a:lstStyle/>
        <a:p>
          <a:endParaRPr lang="en-US"/>
        </a:p>
      </dgm:t>
    </dgm:pt>
    <dgm:pt modelId="{48D0A405-7180-4298-AB42-09744EA3157E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1"/>
            <a:t>Data bits (usually 8)</a:t>
          </a:r>
          <a:endParaRPr lang="en-US"/>
        </a:p>
      </dgm:t>
    </dgm:pt>
    <dgm:pt modelId="{7940F387-ED50-4C39-BAEE-6DEE64821A95}" type="parTrans" cxnId="{B46428E2-BD47-4D7D-8D13-E3C5069A15E5}">
      <dgm:prSet/>
      <dgm:spPr/>
      <dgm:t>
        <a:bodyPr/>
        <a:lstStyle/>
        <a:p>
          <a:endParaRPr lang="en-US"/>
        </a:p>
      </dgm:t>
    </dgm:pt>
    <dgm:pt modelId="{EB660AB0-3592-4825-9F49-DD495F49CC1B}" type="sibTrans" cxnId="{B46428E2-BD47-4D7D-8D13-E3C5069A15E5}">
      <dgm:prSet/>
      <dgm:spPr/>
      <dgm:t>
        <a:bodyPr/>
        <a:lstStyle/>
        <a:p>
          <a:endParaRPr lang="en-US"/>
        </a:p>
      </dgm:t>
    </dgm:pt>
    <dgm:pt modelId="{BCC9D0D1-D669-45AD-A2F6-6A20845516FF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1" dirty="0"/>
            <a:t>Optional parity bit</a:t>
          </a:r>
          <a:endParaRPr lang="en-US" dirty="0"/>
        </a:p>
      </dgm:t>
    </dgm:pt>
    <dgm:pt modelId="{22F3D630-F841-419C-B0C9-79CBE37CA12B}" type="parTrans" cxnId="{B302BE94-14C1-48FC-B4AC-321428310B70}">
      <dgm:prSet/>
      <dgm:spPr/>
      <dgm:t>
        <a:bodyPr/>
        <a:lstStyle/>
        <a:p>
          <a:endParaRPr lang="en-US"/>
        </a:p>
      </dgm:t>
    </dgm:pt>
    <dgm:pt modelId="{83D39724-FA79-4B98-B0F8-29324EF8C1DA}" type="sibTrans" cxnId="{B302BE94-14C1-48FC-B4AC-321428310B70}">
      <dgm:prSet/>
      <dgm:spPr/>
      <dgm:t>
        <a:bodyPr/>
        <a:lstStyle/>
        <a:p>
          <a:endParaRPr lang="en-US"/>
        </a:p>
      </dgm:t>
    </dgm:pt>
    <dgm:pt modelId="{B3F70145-AD78-47B4-86E1-E5BDEE2842AC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1" dirty="0"/>
            <a:t>Stop bits</a:t>
          </a:r>
          <a:endParaRPr lang="en-US" dirty="0"/>
        </a:p>
      </dgm:t>
    </dgm:pt>
    <dgm:pt modelId="{1E80684D-6BA3-47D7-A76F-15CECC2CAB17}" type="parTrans" cxnId="{F9F8CF84-562E-4004-9FBF-64FE58B4FDBD}">
      <dgm:prSet/>
      <dgm:spPr/>
      <dgm:t>
        <a:bodyPr/>
        <a:lstStyle/>
        <a:p>
          <a:endParaRPr lang="en-US"/>
        </a:p>
      </dgm:t>
    </dgm:pt>
    <dgm:pt modelId="{35306D6E-C6DB-4614-B4C5-487E68B9110F}" type="sibTrans" cxnId="{F9F8CF84-562E-4004-9FBF-64FE58B4FDBD}">
      <dgm:prSet/>
      <dgm:spPr/>
      <dgm:t>
        <a:bodyPr/>
        <a:lstStyle/>
        <a:p>
          <a:endParaRPr lang="en-US"/>
        </a:p>
      </dgm:t>
    </dgm:pt>
    <dgm:pt modelId="{A74E0E08-BA27-4C28-96E1-09684400DB31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The TX FIFO (if available) stores multiple bytes, allowing continuous data flow without CPU intervention.</a:t>
          </a:r>
        </a:p>
      </dgm:t>
    </dgm:pt>
    <dgm:pt modelId="{8D2AAA5D-492F-4639-8E1E-8015C42C677F}" type="parTrans" cxnId="{9ACF2D93-D86C-4B2B-A4A2-6E321844FA63}">
      <dgm:prSet/>
      <dgm:spPr/>
      <dgm:t>
        <a:bodyPr/>
        <a:lstStyle/>
        <a:p>
          <a:endParaRPr lang="en-US"/>
        </a:p>
      </dgm:t>
    </dgm:pt>
    <dgm:pt modelId="{AB41DB71-5931-4527-BCCA-6BD161BF555C}" type="sibTrans" cxnId="{9ACF2D93-D86C-4B2B-A4A2-6E321844FA63}">
      <dgm:prSet/>
      <dgm:spPr/>
      <dgm:t>
        <a:bodyPr/>
        <a:lstStyle/>
        <a:p>
          <a:endParaRPr lang="en-US"/>
        </a:p>
      </dgm:t>
    </dgm:pt>
    <dgm:pt modelId="{ADA6BA21-D9A2-4E76-B8BC-C22598D6D7D2}" type="pres">
      <dgm:prSet presAssocID="{78C54DEA-77B9-4300-80FC-8ABF75601646}" presName="root" presStyleCnt="0">
        <dgm:presLayoutVars>
          <dgm:dir/>
          <dgm:resizeHandles val="exact"/>
        </dgm:presLayoutVars>
      </dgm:prSet>
      <dgm:spPr/>
    </dgm:pt>
    <dgm:pt modelId="{B54661AB-68F9-4C45-9977-09C60640E4CE}" type="pres">
      <dgm:prSet presAssocID="{E27C2876-F92B-40E4-B463-2E5AFACB2F0B}" presName="compNode" presStyleCnt="0"/>
      <dgm:spPr/>
    </dgm:pt>
    <dgm:pt modelId="{C63D0424-F110-46E7-A9E8-4634B831EE12}" type="pres">
      <dgm:prSet presAssocID="{E27C2876-F92B-40E4-B463-2E5AFACB2F0B}" presName="bgRect" presStyleLbl="bgShp" presStyleIdx="0" presStyleCnt="3" custLinFactNeighborX="7354" custLinFactNeighborY="-214"/>
      <dgm:spPr/>
    </dgm:pt>
    <dgm:pt modelId="{948BAB7F-EACD-4347-A967-9E1785870BC8}" type="pres">
      <dgm:prSet presAssocID="{E27C2876-F92B-40E4-B463-2E5AFACB2F0B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tream"/>
        </a:ext>
      </dgm:extLst>
    </dgm:pt>
    <dgm:pt modelId="{061EE2B6-FCD1-45F4-9396-0AF56157C723}" type="pres">
      <dgm:prSet presAssocID="{E27C2876-F92B-40E4-B463-2E5AFACB2F0B}" presName="spaceRect" presStyleCnt="0"/>
      <dgm:spPr/>
    </dgm:pt>
    <dgm:pt modelId="{A06F00F8-8BBF-425D-9552-BE86D209AD94}" type="pres">
      <dgm:prSet presAssocID="{E27C2876-F92B-40E4-B463-2E5AFACB2F0B}" presName="parTx" presStyleLbl="revTx" presStyleIdx="0" presStyleCnt="4">
        <dgm:presLayoutVars>
          <dgm:chMax val="0"/>
          <dgm:chPref val="0"/>
        </dgm:presLayoutVars>
      </dgm:prSet>
      <dgm:spPr/>
    </dgm:pt>
    <dgm:pt modelId="{A48C8BE1-FAD1-421A-8D38-837A22C3AC94}" type="pres">
      <dgm:prSet presAssocID="{19D5964C-8E73-4A89-98AD-CC0F3B571695}" presName="sibTrans" presStyleCnt="0"/>
      <dgm:spPr/>
    </dgm:pt>
    <dgm:pt modelId="{C10F049F-526E-45C5-8320-0204DC84092F}" type="pres">
      <dgm:prSet presAssocID="{DE112F7F-5222-4C8E-8868-F3DF3F40A454}" presName="compNode" presStyleCnt="0"/>
      <dgm:spPr/>
    </dgm:pt>
    <dgm:pt modelId="{EF24FF59-3E89-4DEB-9D1D-0A733A369E6A}" type="pres">
      <dgm:prSet presAssocID="{DE112F7F-5222-4C8E-8868-F3DF3F40A454}" presName="bgRect" presStyleLbl="bgShp" presStyleIdx="1" presStyleCnt="3"/>
      <dgm:spPr/>
    </dgm:pt>
    <dgm:pt modelId="{6E0E50FC-5BA4-4B73-BD76-9FE3362E9C3D}" type="pres">
      <dgm:prSet presAssocID="{DE112F7F-5222-4C8E-8868-F3DF3F40A454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isk"/>
        </a:ext>
      </dgm:extLst>
    </dgm:pt>
    <dgm:pt modelId="{1D748E76-E09E-43EC-976E-12F3A2A050AA}" type="pres">
      <dgm:prSet presAssocID="{DE112F7F-5222-4C8E-8868-F3DF3F40A454}" presName="spaceRect" presStyleCnt="0"/>
      <dgm:spPr/>
    </dgm:pt>
    <dgm:pt modelId="{95A29A16-E061-4DED-B1DA-363A8A786E58}" type="pres">
      <dgm:prSet presAssocID="{DE112F7F-5222-4C8E-8868-F3DF3F40A454}" presName="parTx" presStyleLbl="revTx" presStyleIdx="1" presStyleCnt="4">
        <dgm:presLayoutVars>
          <dgm:chMax val="0"/>
          <dgm:chPref val="0"/>
        </dgm:presLayoutVars>
      </dgm:prSet>
      <dgm:spPr/>
    </dgm:pt>
    <dgm:pt modelId="{E3E47A75-7F63-49B2-9712-11379E40B527}" type="pres">
      <dgm:prSet presAssocID="{DE112F7F-5222-4C8E-8868-F3DF3F40A454}" presName="desTx" presStyleLbl="revTx" presStyleIdx="2" presStyleCnt="4">
        <dgm:presLayoutVars/>
      </dgm:prSet>
      <dgm:spPr/>
    </dgm:pt>
    <dgm:pt modelId="{856CD6E0-4F7E-4360-A165-0C72164A7143}" type="pres">
      <dgm:prSet presAssocID="{5E0C7F53-9D3F-4C57-8B8E-8851F6B651B2}" presName="sibTrans" presStyleCnt="0"/>
      <dgm:spPr/>
    </dgm:pt>
    <dgm:pt modelId="{D7231870-6CCD-4288-93A0-44E9190C6A11}" type="pres">
      <dgm:prSet presAssocID="{A74E0E08-BA27-4C28-96E1-09684400DB31}" presName="compNode" presStyleCnt="0"/>
      <dgm:spPr/>
    </dgm:pt>
    <dgm:pt modelId="{7EED2E03-2920-49E9-9117-D7A02486D189}" type="pres">
      <dgm:prSet presAssocID="{A74E0E08-BA27-4C28-96E1-09684400DB31}" presName="bgRect" presStyleLbl="bgShp" presStyleIdx="2" presStyleCnt="3"/>
      <dgm:spPr/>
    </dgm:pt>
    <dgm:pt modelId="{9F13097E-2444-4EEC-B700-E06990E21279}" type="pres">
      <dgm:prSet presAssocID="{A74E0E08-BA27-4C28-96E1-09684400DB31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rocessor"/>
        </a:ext>
      </dgm:extLst>
    </dgm:pt>
    <dgm:pt modelId="{90B029F0-0082-4AEF-9D92-94ED99677715}" type="pres">
      <dgm:prSet presAssocID="{A74E0E08-BA27-4C28-96E1-09684400DB31}" presName="spaceRect" presStyleCnt="0"/>
      <dgm:spPr/>
    </dgm:pt>
    <dgm:pt modelId="{10526DA1-E58D-4452-ABC7-730E06D013F8}" type="pres">
      <dgm:prSet presAssocID="{A74E0E08-BA27-4C28-96E1-09684400DB31}" presName="parTx" presStyleLbl="revTx" presStyleIdx="3" presStyleCnt="4">
        <dgm:presLayoutVars>
          <dgm:chMax val="0"/>
          <dgm:chPref val="0"/>
        </dgm:presLayoutVars>
      </dgm:prSet>
      <dgm:spPr/>
    </dgm:pt>
  </dgm:ptLst>
  <dgm:cxnLst>
    <dgm:cxn modelId="{451ABF01-EFF2-4A16-998E-734305FEF381}" srcId="{78C54DEA-77B9-4300-80FC-8ABF75601646}" destId="{DE112F7F-5222-4C8E-8868-F3DF3F40A454}" srcOrd="1" destOrd="0" parTransId="{AFB20C23-4200-4B1B-883A-227937D2E0B7}" sibTransId="{5E0C7F53-9D3F-4C57-8B8E-8851F6B651B2}"/>
    <dgm:cxn modelId="{F5B31172-87AC-4D1C-A583-176A724B6ED0}" type="presOf" srcId="{B3F70145-AD78-47B4-86E1-E5BDEE2842AC}" destId="{E3E47A75-7F63-49B2-9712-11379E40B527}" srcOrd="0" destOrd="3" presId="urn:microsoft.com/office/officeart/2018/2/layout/IconVerticalSolidList"/>
    <dgm:cxn modelId="{DF435353-5914-4EE2-ABAA-A564A12F74E1}" type="presOf" srcId="{DE112F7F-5222-4C8E-8868-F3DF3F40A454}" destId="{95A29A16-E061-4DED-B1DA-363A8A786E58}" srcOrd="0" destOrd="0" presId="urn:microsoft.com/office/officeart/2018/2/layout/IconVerticalSolidList"/>
    <dgm:cxn modelId="{F9F8CF84-562E-4004-9FBF-64FE58B4FDBD}" srcId="{DE112F7F-5222-4C8E-8868-F3DF3F40A454}" destId="{B3F70145-AD78-47B4-86E1-E5BDEE2842AC}" srcOrd="3" destOrd="0" parTransId="{1E80684D-6BA3-47D7-A76F-15CECC2CAB17}" sibTransId="{35306D6E-C6DB-4614-B4C5-487E68B9110F}"/>
    <dgm:cxn modelId="{9ACF2D93-D86C-4B2B-A4A2-6E321844FA63}" srcId="{78C54DEA-77B9-4300-80FC-8ABF75601646}" destId="{A74E0E08-BA27-4C28-96E1-09684400DB31}" srcOrd="2" destOrd="0" parTransId="{8D2AAA5D-492F-4639-8E1E-8015C42C677F}" sibTransId="{AB41DB71-5931-4527-BCCA-6BD161BF555C}"/>
    <dgm:cxn modelId="{B302BE94-14C1-48FC-B4AC-321428310B70}" srcId="{DE112F7F-5222-4C8E-8868-F3DF3F40A454}" destId="{BCC9D0D1-D669-45AD-A2F6-6A20845516FF}" srcOrd="2" destOrd="0" parTransId="{22F3D630-F841-419C-B0C9-79CBE37CA12B}" sibTransId="{83D39724-FA79-4B98-B0F8-29324EF8C1DA}"/>
    <dgm:cxn modelId="{E6042B95-66F7-4D73-B50E-FC692DE155FE}" type="presOf" srcId="{48D0A405-7180-4298-AB42-09744EA3157E}" destId="{E3E47A75-7F63-49B2-9712-11379E40B527}" srcOrd="0" destOrd="1" presId="urn:microsoft.com/office/officeart/2018/2/layout/IconVerticalSolidList"/>
    <dgm:cxn modelId="{5E60DDB3-9247-4243-855F-12FB45295E27}" type="presOf" srcId="{506B380F-F4DD-48A6-BFFE-490F945AA601}" destId="{E3E47A75-7F63-49B2-9712-11379E40B527}" srcOrd="0" destOrd="0" presId="urn:microsoft.com/office/officeart/2018/2/layout/IconVerticalSolidList"/>
    <dgm:cxn modelId="{BC4545CD-1A9E-4822-BA9F-19876E7429FB}" srcId="{DE112F7F-5222-4C8E-8868-F3DF3F40A454}" destId="{506B380F-F4DD-48A6-BFFE-490F945AA601}" srcOrd="0" destOrd="0" parTransId="{8C4BAD36-D71D-4C28-B246-0B768833B4DD}" sibTransId="{688AAC07-3A60-4AD8-8658-DCAA345442FA}"/>
    <dgm:cxn modelId="{ECCBFBCD-4FCB-461C-B490-9951E5D15840}" type="presOf" srcId="{E27C2876-F92B-40E4-B463-2E5AFACB2F0B}" destId="{A06F00F8-8BBF-425D-9552-BE86D209AD94}" srcOrd="0" destOrd="0" presId="urn:microsoft.com/office/officeart/2018/2/layout/IconVerticalSolidList"/>
    <dgm:cxn modelId="{AECB80D5-7A43-40BE-AB0A-63907BC78D4F}" type="presOf" srcId="{BCC9D0D1-D669-45AD-A2F6-6A20845516FF}" destId="{E3E47A75-7F63-49B2-9712-11379E40B527}" srcOrd="0" destOrd="2" presId="urn:microsoft.com/office/officeart/2018/2/layout/IconVerticalSolidList"/>
    <dgm:cxn modelId="{B46428E2-BD47-4D7D-8D13-E3C5069A15E5}" srcId="{DE112F7F-5222-4C8E-8868-F3DF3F40A454}" destId="{48D0A405-7180-4298-AB42-09744EA3157E}" srcOrd="1" destOrd="0" parTransId="{7940F387-ED50-4C39-BAEE-6DEE64821A95}" sibTransId="{EB660AB0-3592-4825-9F49-DD495F49CC1B}"/>
    <dgm:cxn modelId="{E3D8ECE7-6EB9-4E8D-940F-2EE455B5602C}" srcId="{78C54DEA-77B9-4300-80FC-8ABF75601646}" destId="{E27C2876-F92B-40E4-B463-2E5AFACB2F0B}" srcOrd="0" destOrd="0" parTransId="{1873ADFA-656E-4083-A45F-B2D81AA8A35D}" sibTransId="{19D5964C-8E73-4A89-98AD-CC0F3B571695}"/>
    <dgm:cxn modelId="{E208BEF4-626D-4501-A13F-54D3910605F6}" type="presOf" srcId="{78C54DEA-77B9-4300-80FC-8ABF75601646}" destId="{ADA6BA21-D9A2-4E76-B8BC-C22598D6D7D2}" srcOrd="0" destOrd="0" presId="urn:microsoft.com/office/officeart/2018/2/layout/IconVerticalSolidList"/>
    <dgm:cxn modelId="{8AB1B5FF-0DCC-43C4-A986-4D015731BB53}" type="presOf" srcId="{A74E0E08-BA27-4C28-96E1-09684400DB31}" destId="{10526DA1-E58D-4452-ABC7-730E06D013F8}" srcOrd="0" destOrd="0" presId="urn:microsoft.com/office/officeart/2018/2/layout/IconVerticalSolidList"/>
    <dgm:cxn modelId="{597C1BA8-D5DC-49F1-9A03-02463834E901}" type="presParOf" srcId="{ADA6BA21-D9A2-4E76-B8BC-C22598D6D7D2}" destId="{B54661AB-68F9-4C45-9977-09C60640E4CE}" srcOrd="0" destOrd="0" presId="urn:microsoft.com/office/officeart/2018/2/layout/IconVerticalSolidList"/>
    <dgm:cxn modelId="{94CF3230-A179-43A4-91FD-20E9313DD9B7}" type="presParOf" srcId="{B54661AB-68F9-4C45-9977-09C60640E4CE}" destId="{C63D0424-F110-46E7-A9E8-4634B831EE12}" srcOrd="0" destOrd="0" presId="urn:microsoft.com/office/officeart/2018/2/layout/IconVerticalSolidList"/>
    <dgm:cxn modelId="{2EDC4145-8BB9-4FD5-A283-CDE2288334B4}" type="presParOf" srcId="{B54661AB-68F9-4C45-9977-09C60640E4CE}" destId="{948BAB7F-EACD-4347-A967-9E1785870BC8}" srcOrd="1" destOrd="0" presId="urn:microsoft.com/office/officeart/2018/2/layout/IconVerticalSolidList"/>
    <dgm:cxn modelId="{B5431563-4E70-4970-A9DB-36BAE404C15B}" type="presParOf" srcId="{B54661AB-68F9-4C45-9977-09C60640E4CE}" destId="{061EE2B6-FCD1-45F4-9396-0AF56157C723}" srcOrd="2" destOrd="0" presId="urn:microsoft.com/office/officeart/2018/2/layout/IconVerticalSolidList"/>
    <dgm:cxn modelId="{FE701AF6-9122-486B-955E-217949A440B2}" type="presParOf" srcId="{B54661AB-68F9-4C45-9977-09C60640E4CE}" destId="{A06F00F8-8BBF-425D-9552-BE86D209AD94}" srcOrd="3" destOrd="0" presId="urn:microsoft.com/office/officeart/2018/2/layout/IconVerticalSolidList"/>
    <dgm:cxn modelId="{D8EAD567-5290-48C9-9E9F-FC499D39FB86}" type="presParOf" srcId="{ADA6BA21-D9A2-4E76-B8BC-C22598D6D7D2}" destId="{A48C8BE1-FAD1-421A-8D38-837A22C3AC94}" srcOrd="1" destOrd="0" presId="urn:microsoft.com/office/officeart/2018/2/layout/IconVerticalSolidList"/>
    <dgm:cxn modelId="{C9CF756F-7DC9-4C5E-82F0-4EF090023D8D}" type="presParOf" srcId="{ADA6BA21-D9A2-4E76-B8BC-C22598D6D7D2}" destId="{C10F049F-526E-45C5-8320-0204DC84092F}" srcOrd="2" destOrd="0" presId="urn:microsoft.com/office/officeart/2018/2/layout/IconVerticalSolidList"/>
    <dgm:cxn modelId="{CF9A1A28-B8BA-4BA8-9A99-7B723E08F53C}" type="presParOf" srcId="{C10F049F-526E-45C5-8320-0204DC84092F}" destId="{EF24FF59-3E89-4DEB-9D1D-0A733A369E6A}" srcOrd="0" destOrd="0" presId="urn:microsoft.com/office/officeart/2018/2/layout/IconVerticalSolidList"/>
    <dgm:cxn modelId="{7BF4244C-7E74-4126-BF75-9E90F1399C75}" type="presParOf" srcId="{C10F049F-526E-45C5-8320-0204DC84092F}" destId="{6E0E50FC-5BA4-4B73-BD76-9FE3362E9C3D}" srcOrd="1" destOrd="0" presId="urn:microsoft.com/office/officeart/2018/2/layout/IconVerticalSolidList"/>
    <dgm:cxn modelId="{8C3218B8-572F-40E1-A551-9340C5E51BEC}" type="presParOf" srcId="{C10F049F-526E-45C5-8320-0204DC84092F}" destId="{1D748E76-E09E-43EC-976E-12F3A2A050AA}" srcOrd="2" destOrd="0" presId="urn:microsoft.com/office/officeart/2018/2/layout/IconVerticalSolidList"/>
    <dgm:cxn modelId="{C6D4BFC4-185E-4680-AAFB-12741C8C23C3}" type="presParOf" srcId="{C10F049F-526E-45C5-8320-0204DC84092F}" destId="{95A29A16-E061-4DED-B1DA-363A8A786E58}" srcOrd="3" destOrd="0" presId="urn:microsoft.com/office/officeart/2018/2/layout/IconVerticalSolidList"/>
    <dgm:cxn modelId="{8EDB9466-5B02-49B9-B2C5-78F5DB7559F3}" type="presParOf" srcId="{C10F049F-526E-45C5-8320-0204DC84092F}" destId="{E3E47A75-7F63-49B2-9712-11379E40B527}" srcOrd="4" destOrd="0" presId="urn:microsoft.com/office/officeart/2018/2/layout/IconVerticalSolidList"/>
    <dgm:cxn modelId="{45DD60E5-A135-4FB6-8A9A-8DB1D41A2D00}" type="presParOf" srcId="{ADA6BA21-D9A2-4E76-B8BC-C22598D6D7D2}" destId="{856CD6E0-4F7E-4360-A165-0C72164A7143}" srcOrd="3" destOrd="0" presId="urn:microsoft.com/office/officeart/2018/2/layout/IconVerticalSolidList"/>
    <dgm:cxn modelId="{C402590A-8116-435C-A3B9-91C7D6804D4E}" type="presParOf" srcId="{ADA6BA21-D9A2-4E76-B8BC-C22598D6D7D2}" destId="{D7231870-6CCD-4288-93A0-44E9190C6A11}" srcOrd="4" destOrd="0" presId="urn:microsoft.com/office/officeart/2018/2/layout/IconVerticalSolidList"/>
    <dgm:cxn modelId="{B910AE88-900D-46E2-A14E-4BEFA80DED5B}" type="presParOf" srcId="{D7231870-6CCD-4288-93A0-44E9190C6A11}" destId="{7EED2E03-2920-49E9-9117-D7A02486D189}" srcOrd="0" destOrd="0" presId="urn:microsoft.com/office/officeart/2018/2/layout/IconVerticalSolidList"/>
    <dgm:cxn modelId="{9F5B7A69-C9D3-494E-8DDB-9C5695E21205}" type="presParOf" srcId="{D7231870-6CCD-4288-93A0-44E9190C6A11}" destId="{9F13097E-2444-4EEC-B700-E06990E21279}" srcOrd="1" destOrd="0" presId="urn:microsoft.com/office/officeart/2018/2/layout/IconVerticalSolidList"/>
    <dgm:cxn modelId="{0AADC6EE-CA41-480C-90D5-075C954C4145}" type="presParOf" srcId="{D7231870-6CCD-4288-93A0-44E9190C6A11}" destId="{90B029F0-0082-4AEF-9D92-94ED99677715}" srcOrd="2" destOrd="0" presId="urn:microsoft.com/office/officeart/2018/2/layout/IconVerticalSolidList"/>
    <dgm:cxn modelId="{29ED9B11-77D1-462E-90AD-E67543359213}" type="presParOf" srcId="{D7231870-6CCD-4288-93A0-44E9190C6A11}" destId="{10526DA1-E58D-4452-ABC7-730E06D013F8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63D0424-F110-46E7-A9E8-4634B831EE12}">
      <dsp:nvSpPr>
        <dsp:cNvPr id="0" name=""/>
        <dsp:cNvSpPr/>
      </dsp:nvSpPr>
      <dsp:spPr>
        <a:xfrm>
          <a:off x="0" y="0"/>
          <a:ext cx="5431453" cy="852384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48BAB7F-EACD-4347-A967-9E1785870BC8}">
      <dsp:nvSpPr>
        <dsp:cNvPr id="0" name=""/>
        <dsp:cNvSpPr/>
      </dsp:nvSpPr>
      <dsp:spPr>
        <a:xfrm>
          <a:off x="257846" y="193609"/>
          <a:ext cx="468811" cy="468811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06F00F8-8BBF-425D-9552-BE86D209AD94}">
      <dsp:nvSpPr>
        <dsp:cNvPr id="0" name=""/>
        <dsp:cNvSpPr/>
      </dsp:nvSpPr>
      <dsp:spPr>
        <a:xfrm>
          <a:off x="984504" y="1822"/>
          <a:ext cx="4445986" cy="85238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0211" tIns="90211" rIns="90211" bIns="90211" numCol="1" spcCol="1270" anchor="ctr" anchorCtr="0">
          <a:noAutofit/>
        </a:bodyPr>
        <a:lstStyle/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1" kern="1200"/>
            <a:t>. </a:t>
          </a:r>
          <a:r>
            <a:rPr lang="en-US" sz="1400" kern="1200"/>
            <a:t>The </a:t>
          </a:r>
          <a:r>
            <a:rPr lang="en-US" sz="1400" b="1" kern="1200"/>
            <a:t>TX line</a:t>
          </a:r>
          <a:r>
            <a:rPr lang="en-US" sz="1400" kern="1200"/>
            <a:t> sends data from the UART transmitter to the receiver of another device.</a:t>
          </a:r>
        </a:p>
      </dsp:txBody>
      <dsp:txXfrm>
        <a:off x="984504" y="1822"/>
        <a:ext cx="4445986" cy="852384"/>
      </dsp:txXfrm>
    </dsp:sp>
    <dsp:sp modelId="{EF24FF59-3E89-4DEB-9D1D-0A733A369E6A}">
      <dsp:nvSpPr>
        <dsp:cNvPr id="0" name=""/>
        <dsp:cNvSpPr/>
      </dsp:nvSpPr>
      <dsp:spPr>
        <a:xfrm>
          <a:off x="0" y="1067303"/>
          <a:ext cx="5431453" cy="852384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E0E50FC-5BA4-4B73-BD76-9FE3362E9C3D}">
      <dsp:nvSpPr>
        <dsp:cNvPr id="0" name=""/>
        <dsp:cNvSpPr/>
      </dsp:nvSpPr>
      <dsp:spPr>
        <a:xfrm>
          <a:off x="257846" y="1259089"/>
          <a:ext cx="468811" cy="468811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5A29A16-E061-4DED-B1DA-363A8A786E58}">
      <dsp:nvSpPr>
        <dsp:cNvPr id="0" name=""/>
        <dsp:cNvSpPr/>
      </dsp:nvSpPr>
      <dsp:spPr>
        <a:xfrm>
          <a:off x="984504" y="1067303"/>
          <a:ext cx="2444153" cy="85238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0211" tIns="90211" rIns="90211" bIns="90211" numCol="1" spcCol="1270" anchor="ctr" anchorCtr="0">
          <a:noAutofit/>
        </a:bodyPr>
        <a:lstStyle/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The data is framed with:</a:t>
          </a:r>
        </a:p>
      </dsp:txBody>
      <dsp:txXfrm>
        <a:off x="984504" y="1067303"/>
        <a:ext cx="2444153" cy="852384"/>
      </dsp:txXfrm>
    </dsp:sp>
    <dsp:sp modelId="{E3E47A75-7F63-49B2-9712-11379E40B527}">
      <dsp:nvSpPr>
        <dsp:cNvPr id="0" name=""/>
        <dsp:cNvSpPr/>
      </dsp:nvSpPr>
      <dsp:spPr>
        <a:xfrm>
          <a:off x="3428657" y="1067303"/>
          <a:ext cx="2001832" cy="85238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0211" tIns="90211" rIns="90211" bIns="90211" numCol="1" spcCol="1270" anchor="ctr" anchorCtr="0">
          <a:noAutofit/>
        </a:bodyPr>
        <a:lstStyle/>
        <a:p>
          <a:pPr marL="0" lvl="0" indent="0" algn="l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b="1" kern="1200"/>
            <a:t>Start bit</a:t>
          </a:r>
          <a:endParaRPr lang="en-US" sz="1100" kern="1200"/>
        </a:p>
        <a:p>
          <a:pPr marL="0" lvl="0" indent="0" algn="l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b="1" kern="1200"/>
            <a:t>Data bits (usually 8)</a:t>
          </a:r>
          <a:endParaRPr lang="en-US" sz="1100" kern="1200"/>
        </a:p>
        <a:p>
          <a:pPr marL="0" lvl="0" indent="0" algn="l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b="1" kern="1200" dirty="0"/>
            <a:t>Optional parity bit</a:t>
          </a:r>
          <a:endParaRPr lang="en-US" sz="1100" kern="1200" dirty="0"/>
        </a:p>
        <a:p>
          <a:pPr marL="0" lvl="0" indent="0" algn="l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b="1" kern="1200" dirty="0"/>
            <a:t>Stop bits</a:t>
          </a:r>
          <a:endParaRPr lang="en-US" sz="1100" kern="1200" dirty="0"/>
        </a:p>
      </dsp:txBody>
      <dsp:txXfrm>
        <a:off x="3428657" y="1067303"/>
        <a:ext cx="2001832" cy="852384"/>
      </dsp:txXfrm>
    </dsp:sp>
    <dsp:sp modelId="{7EED2E03-2920-49E9-9117-D7A02486D189}">
      <dsp:nvSpPr>
        <dsp:cNvPr id="0" name=""/>
        <dsp:cNvSpPr/>
      </dsp:nvSpPr>
      <dsp:spPr>
        <a:xfrm>
          <a:off x="0" y="2132783"/>
          <a:ext cx="5431453" cy="852384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F13097E-2444-4EEC-B700-E06990E21279}">
      <dsp:nvSpPr>
        <dsp:cNvPr id="0" name=""/>
        <dsp:cNvSpPr/>
      </dsp:nvSpPr>
      <dsp:spPr>
        <a:xfrm>
          <a:off x="257846" y="2324570"/>
          <a:ext cx="468811" cy="468811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0526DA1-E58D-4452-ABC7-730E06D013F8}">
      <dsp:nvSpPr>
        <dsp:cNvPr id="0" name=""/>
        <dsp:cNvSpPr/>
      </dsp:nvSpPr>
      <dsp:spPr>
        <a:xfrm>
          <a:off x="984504" y="2132783"/>
          <a:ext cx="4445986" cy="85238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0211" tIns="90211" rIns="90211" bIns="90211" numCol="1" spcCol="1270" anchor="ctr" anchorCtr="0">
          <a:noAutofit/>
        </a:bodyPr>
        <a:lstStyle/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The TX FIFO (if available) stores multiple bytes, allowing continuous data flow without CPU intervention.</a:t>
          </a:r>
        </a:p>
      </dsp:txBody>
      <dsp:txXfrm>
        <a:off x="984504" y="2132783"/>
        <a:ext cx="4445986" cy="852384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F83D70-91AA-429A-BD57-1CB6792B30E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88136" y="1078030"/>
            <a:ext cx="9288096" cy="2956718"/>
          </a:xfrm>
        </p:spPr>
        <p:txBody>
          <a:bodyPr anchor="t">
            <a:noAutofit/>
          </a:bodyPr>
          <a:lstStyle>
            <a:lvl1pPr algn="l">
              <a:defRPr sz="6600" cap="all" baseline="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065D245-B564-481D-A323-F73C5BCA846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088136" y="4455621"/>
            <a:ext cx="9288096" cy="1435331"/>
          </a:xfrm>
        </p:spPr>
        <p:txBody>
          <a:bodyPr>
            <a:normAutofit/>
          </a:bodyPr>
          <a:lstStyle>
            <a:lvl1pPr marL="0" indent="0" algn="l">
              <a:lnSpc>
                <a:spcPct val="120000"/>
              </a:lnSpc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8E072EE-51B3-4C0C-A460-4684AB0793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E45834-53BD-4C8F-B791-CD5378F4150E}" type="datetimeFigureOut">
              <a:rPr lang="en-US" smtClean="0"/>
              <a:t>11/16/2025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11422A5-3076-413B-84CB-ED3BA4171C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5267C68-40D5-477E-9DBC-C28FD4B114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9D7796-F675-488F-AC46-C88938C803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855679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3EE2F5-9D3C-4BE7-9AD5-335B31CF2C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F98C4F-4BF6-47CF-ABEE-2B12748C470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D539070-70D2-4DD1-A439-155343FE26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E45834-53BD-4C8F-B791-CD5378F4150E}" type="datetimeFigureOut">
              <a:rPr lang="en-US" smtClean="0"/>
              <a:t>11/16/2025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151AB30-CD74-471D-9FA6-ADC0C901E6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6A137C4-F19E-4521-8DCB-4E0CF9CA31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9D7796-F675-488F-AC46-C88938C803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721763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48007D-9B1D-4E2C-B38F-29C6820996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0940" y="1099127"/>
            <a:ext cx="9272260" cy="3472874"/>
          </a:xfrm>
        </p:spPr>
        <p:txBody>
          <a:bodyPr anchor="t">
            <a:normAutofit/>
          </a:bodyPr>
          <a:lstStyle>
            <a:lvl1pPr>
              <a:defRPr sz="4000" cap="all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960C51B-B525-4032-9D08-2978D7367BF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90939" y="4572000"/>
            <a:ext cx="9272262" cy="1320801"/>
          </a:xfrm>
        </p:spPr>
        <p:txBody>
          <a:bodyPr anchor="b"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408851-4DCC-447C-828A-5F7E66F762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E45834-53BD-4C8F-B791-CD5378F4150E}" type="datetimeFigureOut">
              <a:rPr lang="en-US" smtClean="0"/>
              <a:t>11/16/2025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094542-CAEF-4D6C-BE6A-BC100F0590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C8BDE40-8468-4051-9703-B751608AAF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9D7796-F675-488F-AC46-C88938C803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944914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6BF7AE-3892-4896-8C15-7A35A41EFD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88136" y="1088136"/>
            <a:ext cx="9890066" cy="1294228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FD9A26-86F1-4817-B243-4DE63B4F182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082185" y="2440568"/>
            <a:ext cx="4841505" cy="3801284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454BF9B-EA16-48C8-96B9-7A66051BE76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2440568"/>
            <a:ext cx="4806002" cy="380128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16E2D9F-1FCE-4A1C-996E-DB05777A89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E45834-53BD-4C8F-B791-CD5378F4150E}" type="datetimeFigureOut">
              <a:rPr lang="en-US" smtClean="0"/>
              <a:t>11/16/2025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0629E05-3F6C-40BF-9324-118588B6CA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69BE013-C5C0-4CBD-982E-36F037F736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9D7796-F675-488F-AC46-C88938C803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65970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BED885-5FE5-4407-BE4D-FAD01C40A9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0940" y="1084333"/>
            <a:ext cx="9949455" cy="838856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E322A77-C134-4857-83E5-51217D3C29F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92088" y="1923190"/>
            <a:ext cx="4816475" cy="838856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000" b="1" cap="all" spc="10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A4ECBFE-C62C-471B-BFE4-1272EAC3479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092088" y="2825791"/>
            <a:ext cx="4816475" cy="3363871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710AFC6-F407-4F35-BD37-B32F9B4036D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215482" y="1923190"/>
            <a:ext cx="4824913" cy="838856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000" b="1" cap="all" spc="10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58D60D5-0F83-46CB-92F3-849FC08E6E9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215482" y="2825791"/>
            <a:ext cx="4824913" cy="336387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A5AE694-5CA0-48DA-90D3-EC42BD1D86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E45834-53BD-4C8F-B791-CD5378F4150E}" type="datetimeFigureOut">
              <a:rPr lang="en-US" smtClean="0"/>
              <a:t>11/16/2025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340A80D-4CCB-4899-9E1D-A5967F4E64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F753A9D-469A-4ED9-99A1-7E4B115F89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9D7796-F675-488F-AC46-C88938C803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960998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87C91E-0A11-4E5D-9B8D-5316E73A2D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cap="all" baseline="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1B8A8D1-71AD-4F9F-B393-9EED83FEF0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E45834-53BD-4C8F-B791-CD5378F4150E}" type="datetimeFigureOut">
              <a:rPr lang="en-US" smtClean="0"/>
              <a:t>11/16/2025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7E36922-9A4C-453D-9B70-0C3A70281C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F5AAEF2-65DC-4E28-9AA4-5115ACB074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9D7796-F675-488F-AC46-C88938C803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486715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448B02B-A32A-4383-BBC7-0C383390A9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E45834-53BD-4C8F-B791-CD5378F4150E}" type="datetimeFigureOut">
              <a:rPr lang="en-US" smtClean="0"/>
              <a:t>11/16/2025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CFF7E77-47E0-4F9E-9148-8D0C59C0CF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98005A2-ECF0-4759-A17B-FDECE80683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9D7796-F675-488F-AC46-C88938C803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116631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A1DD4B-5676-477E-8C52-4C1CF160FC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0940" y="1094448"/>
            <a:ext cx="3785860" cy="1554362"/>
          </a:xfrm>
        </p:spPr>
        <p:txBody>
          <a:bodyPr anchor="t">
            <a:normAutofit/>
          </a:bodyPr>
          <a:lstStyle>
            <a:lvl1pPr>
              <a:defRPr sz="2800" cap="all" baseline="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B5A3E63-EB15-4D82-BF2B-36BB030C430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24500" y="922689"/>
            <a:ext cx="5486002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CBE994E-BAB7-43DC-A0E4-C779CF2A33D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090940" y="2701254"/>
            <a:ext cx="3785860" cy="3167733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EDEFAAA-1B70-42AA-ADCC-F49B581326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E45834-53BD-4C8F-B791-CD5378F4150E}" type="datetimeFigureOut">
              <a:rPr lang="en-US" smtClean="0"/>
              <a:t>11/16/2025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4C7B6CC-1C13-4F34-AC86-CCD442C8C3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9F1B638-9061-41AD-AF47-73A4AF8B78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9D7796-F675-488F-AC46-C88938C803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310767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CF3C43-1676-4A29-83F9-D788ED2E71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0940" y="1097280"/>
            <a:ext cx="3785860" cy="1559740"/>
          </a:xfrm>
        </p:spPr>
        <p:txBody>
          <a:bodyPr anchor="t">
            <a:normAutofit/>
          </a:bodyPr>
          <a:lstStyle>
            <a:lvl1pPr>
              <a:defRPr sz="2800" cap="all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214A903-97C7-4349-B8CE-1BBED1942E3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524500" y="1143000"/>
            <a:ext cx="5486400" cy="45720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F0A9F58-4AEB-4286-98F7-3C77AA913BE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090940" y="2697480"/>
            <a:ext cx="3785860" cy="3093420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4F55A58-F085-4500-AF61-045B12C8F4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E45834-53BD-4C8F-B791-CD5378F4150E}" type="datetimeFigureOut">
              <a:rPr lang="en-US" smtClean="0"/>
              <a:t>11/16/2025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9936470-561D-49AE-AC84-B79D483FDA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EEF2BE2-DF21-4683-9D5F-849A525FD5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9D7796-F675-488F-AC46-C88938C803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843751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D6C900-05BC-4021-B69F-2DAF974B7E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F26E227-253A-44A0-9404-1CFD8CE419C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AFF5A02-0FC4-41C8-A13C-4C929B2884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E45834-53BD-4C8F-B791-CD5378F4150E}" type="datetimeFigureOut">
              <a:rPr lang="en-US" smtClean="0"/>
              <a:t>11/16/2025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0459378-C430-49DB-B2D6-E32FBBCD4A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B9D57D-CB8E-4E67-AE2D-2790E2AA60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9D7796-F675-488F-AC46-C88938C803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552022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82CF945-D70F-49C1-8CE5-5758C116601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9182100" y="1091381"/>
            <a:ext cx="2171700" cy="4953369"/>
          </a:xfrm>
        </p:spPr>
        <p:txBody>
          <a:bodyPr vert="eaVert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2FDB721-04AA-4330-8045-3F2D9BB4BC6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1091381"/>
            <a:ext cx="8265340" cy="4953369"/>
          </a:xfrm>
        </p:spPr>
        <p:txBody>
          <a:bodyPr vert="eaVer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F418C15-991C-4C71-8DCD-DB3B388883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E45834-53BD-4C8F-B791-CD5378F4150E}" type="datetimeFigureOut">
              <a:rPr lang="en-US" smtClean="0"/>
              <a:t>11/16/2025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7728CC3-5830-4EFA-B28E-1648904DE1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CDA91B6-E419-4483-9B66-3C758788BC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9D7796-F675-488F-AC46-C88938C80352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DE447C6A-78C3-4687-9A71-A05DBF6700DE}"/>
              </a:ext>
            </a:extLst>
          </p:cNvPr>
          <p:cNvCxnSpPr>
            <a:cxnSpLocks/>
          </p:cNvCxnSpPr>
          <p:nvPr/>
        </p:nvCxnSpPr>
        <p:spPr>
          <a:xfrm>
            <a:off x="11387805" y="1185205"/>
            <a:ext cx="804195" cy="0"/>
          </a:xfrm>
          <a:prstGeom prst="line">
            <a:avLst/>
          </a:prstGeom>
          <a:ln w="857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78074409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E4438DC-3CEE-4170-9B1C-BAC05CD8C3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88136" y="1090245"/>
            <a:ext cx="9922764" cy="129422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7C19D24-DCBE-47F9-8B85-8A118B02B3C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88136" y="2447778"/>
            <a:ext cx="9922764" cy="383872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34F5788-BDCE-49E2-80AE-31C739C6A0C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7315200" y="6389688"/>
            <a:ext cx="369530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fld id="{A1E45834-53BD-4C8F-B791-CD5378F4150E}" type="datetimeFigureOut">
              <a:rPr lang="en-US" smtClean="0"/>
              <a:t>11/16/2025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D1D5844-8163-4D82-BEFC-BC2D8D511B7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90940" y="6389688"/>
            <a:ext cx="443356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2698A50-C435-4220-82C6-C8D62A7C9EB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983190" y="6389688"/>
            <a:ext cx="94029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fld id="{719D7796-F675-488F-AC46-C88938C80352}" type="slidenum">
              <a:rPr lang="en-US" smtClean="0"/>
              <a:t>‹#›</a:t>
            </a:fld>
            <a:endParaRPr lang="en-US"/>
          </a:p>
        </p:txBody>
      </p: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D8689CE0-64D2-447C-9C1F-872D111D8AC3}"/>
              </a:ext>
            </a:extLst>
          </p:cNvPr>
          <p:cNvCxnSpPr>
            <a:cxnSpLocks/>
          </p:cNvCxnSpPr>
          <p:nvPr/>
        </p:nvCxnSpPr>
        <p:spPr>
          <a:xfrm>
            <a:off x="0" y="1185205"/>
            <a:ext cx="804195" cy="0"/>
          </a:xfrm>
          <a:prstGeom prst="line">
            <a:avLst/>
          </a:prstGeom>
          <a:ln w="857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8941118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4" r:id="rId1"/>
    <p:sldLayoutId id="2147483735" r:id="rId2"/>
    <p:sldLayoutId id="2147483736" r:id="rId3"/>
    <p:sldLayoutId id="2147483737" r:id="rId4"/>
    <p:sldLayoutId id="2147483738" r:id="rId5"/>
    <p:sldLayoutId id="2147483732" r:id="rId6"/>
    <p:sldLayoutId id="2147483728" r:id="rId7"/>
    <p:sldLayoutId id="2147483729" r:id="rId8"/>
    <p:sldLayoutId id="2147483730" r:id="rId9"/>
    <p:sldLayoutId id="2147483731" r:id="rId10"/>
    <p:sldLayoutId id="2147483733" r:id="rId11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400" b="1" kern="1200" cap="none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30000"/>
        </a:lnSpc>
        <a:spcBef>
          <a:spcPts val="1000"/>
        </a:spcBef>
        <a:buFont typeface="Neue Haas Grotesk Text Pro" panose="020B0504020202020204" pitchFamily="34" charset="0"/>
        <a:buChar char="-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502920" indent="-228600" algn="l" defTabSz="914400" rtl="0" eaLnBrk="1" latinLnBrk="0" hangingPunct="1">
        <a:lnSpc>
          <a:spcPct val="130000"/>
        </a:lnSpc>
        <a:spcBef>
          <a:spcPts val="500"/>
        </a:spcBef>
        <a:buFont typeface="Neue Haas Grotesk Text Pro" panose="020B0504020202020204" pitchFamily="34" charset="0"/>
        <a:buChar char="-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228600" algn="l" defTabSz="914400" rtl="0" eaLnBrk="1" latinLnBrk="0" hangingPunct="1">
        <a:lnSpc>
          <a:spcPct val="130000"/>
        </a:lnSpc>
        <a:spcBef>
          <a:spcPts val="500"/>
        </a:spcBef>
        <a:buFont typeface="Neue Haas Grotesk Text Pro" panose="020B0504020202020204" pitchFamily="34" charset="0"/>
        <a:buChar char="-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005840" indent="-228600" algn="l" defTabSz="914400" rtl="0" eaLnBrk="1" latinLnBrk="0" hangingPunct="1">
        <a:lnSpc>
          <a:spcPct val="130000"/>
        </a:lnSpc>
        <a:spcBef>
          <a:spcPts val="500"/>
        </a:spcBef>
        <a:buFont typeface="Neue Haas Grotesk Text Pro" panose="020B0504020202020204" pitchFamily="34" charset="0"/>
        <a:buChar char="-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280160" indent="-228600" algn="l" defTabSz="914400" rtl="0" eaLnBrk="1" latinLnBrk="0" hangingPunct="1">
        <a:lnSpc>
          <a:spcPct val="130000"/>
        </a:lnSpc>
        <a:spcBef>
          <a:spcPts val="500"/>
        </a:spcBef>
        <a:buFont typeface="Neue Haas Grotesk Text Pro" panose="020B0504020202020204" pitchFamily="34" charset="0"/>
        <a:buChar char="-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jpe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png"/><Relationship Id="rId3" Type="http://schemas.openxmlformats.org/officeDocument/2006/relationships/image" Target="../media/image4.svg"/><Relationship Id="rId4" Type="http://schemas.openxmlformats.org/officeDocument/2006/relationships/image" Target="../media/image5.png"/><Relationship Id="rId5" Type="http://schemas.openxmlformats.org/officeDocument/2006/relationships/image" Target="../media/image6.sv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7.png"/><Relationship Id="rId3" Type="http://schemas.openxmlformats.org/officeDocument/2006/relationships/diagramData" Target="../diagrams/data1.xml"/><Relationship Id="rId4" Type="http://schemas.openxmlformats.org/officeDocument/2006/relationships/diagramLayout" Target="../diagrams/layout1.xml"/><Relationship Id="rId5" Type="http://schemas.openxmlformats.org/officeDocument/2006/relationships/diagramQuickStyle" Target="../diagrams/quickStyle1.xml"/><Relationship Id="rId6" Type="http://schemas.openxmlformats.org/officeDocument/2006/relationships/diagramColors" Target="../diagrams/colors1.xml"/><Relationship Id="rId7" Type="http://schemas.microsoft.com/office/2007/relationships/diagramDrawing" Target="../diagrams/drawing1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4.png"/><Relationship Id="rId3" Type="http://schemas.openxmlformats.org/officeDocument/2006/relationships/image" Target="../media/image15.svg"/><Relationship Id="rId4" Type="http://schemas.openxmlformats.org/officeDocument/2006/relationships/image" Target="../media/image16.png"/><Relationship Id="rId5" Type="http://schemas.openxmlformats.org/officeDocument/2006/relationships/image" Target="../media/image17.sv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8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9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0.png"/><Relationship Id="rId3" Type="http://schemas.openxmlformats.org/officeDocument/2006/relationships/image" Target="../media/image2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2.png"/><Relationship Id="rId3" Type="http://schemas.openxmlformats.org/officeDocument/2006/relationships/image" Target="../media/image23.svg"/><Relationship Id="rId4" Type="http://schemas.openxmlformats.org/officeDocument/2006/relationships/image" Target="../media/image24.png"/><Relationship Id="rId5" Type="http://schemas.openxmlformats.org/officeDocument/2006/relationships/image" Target="../media/image25.sv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284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2" name="Straight Connector 71">
            <a:extLst>
              <a:ext uri="{FF2B5EF4-FFF2-40B4-BE49-F238E27FC236}">
                <a16:creationId xmlns:a16="http://schemas.microsoft.com/office/drawing/2014/main" id="{D8689CE0-64D2-447C-9C1F-872D111D8A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0" y="1185205"/>
            <a:ext cx="804195" cy="0"/>
          </a:xfrm>
          <a:prstGeom prst="line">
            <a:avLst/>
          </a:prstGeom>
          <a:ln w="857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74" name="Rectangle 73">
            <a:extLst>
              <a:ext uri="{FF2B5EF4-FFF2-40B4-BE49-F238E27FC236}">
                <a16:creationId xmlns:a16="http://schemas.microsoft.com/office/drawing/2014/main" id="{511C99DC-C3C5-4EBE-91DD-345109C3D6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C4FA576-9A48-6C2B-899D-B327C61D6E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95378" y="2692075"/>
            <a:ext cx="3930256" cy="3495365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2800" cap="all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/>
              </a:rPr>
              <a:t>UNIVERSAL ASYNCHRONOUS RECIEVER AND TRANSMITTER(UART)</a:t>
            </a:r>
          </a:p>
        </p:txBody>
      </p:sp>
      <p:cxnSp>
        <p:nvCxnSpPr>
          <p:cNvPr id="76" name="Straight Connector 75">
            <a:extLst>
              <a:ext uri="{FF2B5EF4-FFF2-40B4-BE49-F238E27FC236}">
                <a16:creationId xmlns:a16="http://schemas.microsoft.com/office/drawing/2014/main" id="{B0AA360F-DECB-4836-8FB6-22C4BC3FB0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-7684" y="1186792"/>
            <a:ext cx="804195" cy="0"/>
          </a:xfrm>
          <a:prstGeom prst="line">
            <a:avLst/>
          </a:prstGeom>
          <a:ln w="857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Content Placeholder 4" descr="A black electronic device with white text&#10;&#10;Description automatically generated">
            <a:extLst>
              <a:ext uri="{FF2B5EF4-FFF2-40B4-BE49-F238E27FC236}">
                <a16:creationId xmlns:a16="http://schemas.microsoft.com/office/drawing/2014/main" id="{0467B875-11AD-082F-C78E-252806BE954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158" r="25154"/>
          <a:stretch>
            <a:fillRect/>
          </a:stretch>
        </p:blipFill>
        <p:spPr>
          <a:xfrm>
            <a:off x="5125634" y="1"/>
            <a:ext cx="7066367" cy="68579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808638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284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37B6C3-1827-DDE1-E674-55820AE4E4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55548" y="744221"/>
            <a:ext cx="9922764" cy="687755"/>
          </a:xfrm>
        </p:spPr>
        <p:txBody>
          <a:bodyPr>
            <a:normAutofit/>
          </a:bodyPr>
          <a:lstStyle/>
          <a:p>
            <a:r>
              <a:rPr lang="en-US" dirty="0" sz="2800">
                <a:solidFill>
                  <a:srgbClr val="FFFFFF"/>
                </a:solidFill>
                <a:latin typeface="Calibri"/>
              </a:rPr>
              <a:t>Introduction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A1FDDDD-CD9D-5B43-E6CD-B044A862E16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22960" y="2080590"/>
            <a:ext cx="10187940" cy="4033189"/>
          </a:xfrm>
        </p:spPr>
        <p:txBody>
          <a:bodyPr/>
          <a:lstStyle/>
          <a:p>
            <a:pPr>
              <a:buFont typeface="+mj-lt"/>
              <a:buAutoNum type="arabicPeriod"/>
            </a:pPr>
            <a:r>
              <a:rPr lang="en-US" b="1" dirty="0" sz="2800">
                <a:solidFill>
                  <a:srgbClr val="FFFFFF"/>
                </a:solidFill>
                <a:latin typeface="Calibri"/>
              </a:rPr>
              <a:t>UART (Universal Asynchronous Receiver/Transmitter)</a:t>
            </a:r>
            <a:r>
              <a:rPr lang="en-US" dirty="0" sz="2800">
                <a:solidFill>
                  <a:srgbClr val="FFFFFF"/>
                </a:solidFill>
                <a:latin typeface="Calibri"/>
              </a:rPr>
              <a:t> is an asynchronous serial communication protocol that sends data one bit at a time without a shared clock.</a:t>
            </a:r>
          </a:p>
          <a:p>
            <a:pPr>
              <a:buFont typeface="+mj-lt"/>
              <a:buAutoNum type="arabicPeriod"/>
            </a:pPr>
            <a:r>
              <a:rPr lang="en-US" dirty="0" sz="2800">
                <a:solidFill>
                  <a:srgbClr val="FFFFFF"/>
                </a:solidFill>
                <a:latin typeface="Calibri"/>
              </a:rPr>
              <a:t>It works without a clock and follows an agreed speed called the </a:t>
            </a:r>
            <a:r>
              <a:rPr lang="en-US" b="1" dirty="0" sz="2800">
                <a:solidFill>
                  <a:srgbClr val="FFFFFF"/>
                </a:solidFill>
                <a:latin typeface="Calibri"/>
              </a:rPr>
              <a:t>baud rate</a:t>
            </a:r>
            <a:r>
              <a:rPr lang="en-US" dirty="0" sz="2800">
                <a:solidFill>
                  <a:srgbClr val="FFFFFF"/>
                </a:solidFill>
                <a:latin typeface="Calibri"/>
              </a:rPr>
              <a:t>.</a:t>
            </a:r>
          </a:p>
          <a:p>
            <a:pPr>
              <a:buFont typeface="+mj-lt"/>
              <a:buAutoNum type="arabicPeriod"/>
            </a:pPr>
            <a:r>
              <a:rPr lang="en-US" dirty="0" sz="2800">
                <a:solidFill>
                  <a:srgbClr val="FFFFFF"/>
                </a:solidFill>
                <a:latin typeface="Calibri"/>
              </a:rPr>
              <a:t>Modern UARTs include </a:t>
            </a:r>
            <a:r>
              <a:rPr lang="en-US" b="1" dirty="0" sz="2800">
                <a:solidFill>
                  <a:srgbClr val="FFFFFF"/>
                </a:solidFill>
                <a:latin typeface="Calibri"/>
              </a:rPr>
              <a:t>FIFO (First-In, First-Out) buffers</a:t>
            </a:r>
            <a:r>
              <a:rPr lang="en-US" dirty="0" sz="2800">
                <a:solidFill>
                  <a:srgbClr val="FFFFFF"/>
                </a:solidFill>
                <a:latin typeface="Calibri"/>
              </a:rPr>
              <a:t> on the transmit and receive lines, allowing multiple bytes to be stored temporarily instead of handling data one byte at a time.</a:t>
            </a:r>
          </a:p>
          <a:p>
            <a:pPr>
              <a:buFont typeface="+mj-lt"/>
              <a:buAutoNum type="arabicPeriod"/>
            </a:pPr>
            <a:r>
              <a:rPr lang="en-US" dirty="0" sz="2800">
                <a:solidFill>
                  <a:srgbClr val="FFFFFF"/>
                </a:solidFill>
                <a:latin typeface="Calibri"/>
              </a:rPr>
              <a:t>The FIFO reduces CPU load, prevents data loss at high baud rates, and improves reliability by handling burst data and minimizing interrupt frequency.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0978064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284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 descr="A diagram of a block diagram&#10;&#10;Description automatically generated">
            <a:extLst>
              <a:ext uri="{FF2B5EF4-FFF2-40B4-BE49-F238E27FC236}">
                <a16:creationId xmlns:a16="http://schemas.microsoft.com/office/drawing/2014/main" id="{79820AC7-AD0A-E066-E8B1-5CD591C3A76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4880" y="830872"/>
            <a:ext cx="9814560" cy="5196255"/>
          </a:xfrm>
        </p:spPr>
      </p:pic>
    </p:spTree>
    <p:extLst>
      <p:ext uri="{BB962C8B-B14F-4D97-AF65-F5344CB8AC3E}">
        <p14:creationId xmlns:p14="http://schemas.microsoft.com/office/powerpoint/2010/main" val="45276249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284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220099-15E6-733A-B0CC-7BE32E61F9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z="2800">
                <a:solidFill>
                  <a:srgbClr val="FFFFFF"/>
                </a:solidFill>
                <a:latin typeface="Calibri"/>
              </a:rPr>
              <a:t>Why UART is a asynchronous</a:t>
            </a:r>
            <a:endParaRPr lang="en-IN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08AB68BF-A823-39AB-9A96-ED3DED4B7B56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596347" y="1995737"/>
            <a:ext cx="13247140" cy="34163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rgbClr val="FFFFFF"/>
                </a:solidFill>
                <a:effectLst/>
                <a:latin typeface="Calibri" panose="020B0604020202020204" pitchFamily="34" charset="0"/>
              </a:rPr>
              <a:t>1. Asynchronous design = fewer wires</a:t>
            </a: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rgbClr val="FFFFFF"/>
                </a:solidFill>
                <a:effectLst/>
                <a:latin typeface="Calibri" panose="020B0604020202020204" pitchFamily="34" charset="0"/>
              </a:rPr>
              <a:t>UART is meant to be </a:t>
            </a: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rgbClr val="FFFFFF"/>
                </a:solidFill>
                <a:effectLst/>
                <a:latin typeface="Calibri" panose="020B0604020202020204" pitchFamily="34" charset="0"/>
              </a:rPr>
              <a:t>simple and low-cost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rgbClr val="FFFFFF"/>
                </a:solidFill>
                <a:effectLst/>
                <a:latin typeface="Calibri" panose="020B0604020202020204" pitchFamily="34" charset="0"/>
              </a:rPr>
              <a:t>, so it only uses </a:t>
            </a: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rgbClr val="FFFFFF"/>
                </a:solidFill>
                <a:effectLst/>
                <a:latin typeface="Calibri" panose="020B0604020202020204" pitchFamily="34" charset="0"/>
              </a:rPr>
              <a:t>two wires (TX and RX)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rgbClr val="FFFFFF"/>
                </a:solidFill>
                <a:effectLst/>
                <a:latin typeface="Calibri" panose="020B0604020202020204" pitchFamily="34" charset="0"/>
              </a:rPr>
              <a:t>.</a:t>
            </a: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rgbClr val="FFFFFF"/>
                </a:solidFill>
                <a:effectLst/>
                <a:latin typeface="Calibri" panose="020B0604020202020204" pitchFamily="34" charset="0"/>
              </a:rPr>
              <a:t>If a clock line was added, it would need </a:t>
            </a: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rgbClr val="FFFFFF"/>
                </a:solidFill>
                <a:effectLst/>
                <a:latin typeface="Calibri" panose="020B0604020202020204" pitchFamily="34" charset="0"/>
              </a:rPr>
              <a:t>three wires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rgbClr val="FFFFFF"/>
                </a:solidFill>
                <a:effectLst/>
                <a:latin typeface="Calibri" panose="020B0604020202020204" pitchFamily="34" charset="0"/>
              </a:rPr>
              <a:t>, making the design more complex.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rgbClr val="FFFFFF"/>
                </a:solidFill>
                <a:effectLst/>
                <a:latin typeface="Calibri" panose="020B0604020202020204" pitchFamily="34" charset="0"/>
              </a:rPr>
              <a:t>2. Devices agree on a baud rate instead</a:t>
            </a: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rgbClr val="FFFFFF"/>
                </a:solidFill>
                <a:effectLst/>
                <a:latin typeface="Calibri" panose="020B0604020202020204" pitchFamily="34" charset="0"/>
              </a:rPr>
              <a:t>Since there is </a:t>
            </a: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rgbClr val="FFFFFF"/>
                </a:solidFill>
                <a:effectLst/>
                <a:latin typeface="Calibri" panose="020B0604020202020204" pitchFamily="34" charset="0"/>
              </a:rPr>
              <a:t>no clock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rgbClr val="FFFFFF"/>
                </a:solidFill>
                <a:effectLst/>
                <a:latin typeface="Calibri" panose="020B0604020202020204" pitchFamily="34" charset="0"/>
              </a:rPr>
              <a:t>, both devices agree on a fixed </a:t>
            </a: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rgbClr val="FFFFFF"/>
                </a:solidFill>
                <a:effectLst/>
                <a:latin typeface="Calibri" panose="020B0604020202020204" pitchFamily="34" charset="0"/>
              </a:rPr>
              <a:t>baud rate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rgbClr val="FFFFFF"/>
                </a:solidFill>
                <a:effectLst/>
                <a:latin typeface="Calibri" panose="020B0604020202020204" pitchFamily="34" charset="0"/>
              </a:rPr>
              <a:t> (speed), like 9600 bps.</a:t>
            </a: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rgbClr val="FFFFFF"/>
                </a:solidFill>
                <a:effectLst/>
                <a:latin typeface="Calibri" panose="020B0604020202020204" pitchFamily="34" charset="0"/>
              </a:rPr>
              <a:t>This makes communication possible without sending a separate clock signal.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lang="en-US" altLang="en-US" b="1" dirty="0" sz="2800">
                <a:solidFill>
                  <a:srgbClr val="FFFFFF"/>
                </a:solidFill>
                <a:latin typeface="Calibri" panose="020B0604020202020204" pitchFamily="34" charset="0"/>
              </a:rPr>
              <a:t>3. </a:t>
            </a: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rgbClr val="FFFFFF"/>
                </a:solidFill>
                <a:effectLst/>
                <a:latin typeface="Calibri" panose="020B0604020202020204" pitchFamily="34" charset="0"/>
              </a:rPr>
              <a:t>Suitable for long-distance and low-speed communication</a:t>
            </a: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rgbClr val="FFFFFF"/>
                </a:solidFill>
                <a:effectLst/>
                <a:latin typeface="Calibri" panose="020B0604020202020204" pitchFamily="34" charset="0"/>
              </a:rPr>
              <a:t>A clock line can get distorted or delayed over longer wires.</a:t>
            </a: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rgbClr val="FFFFFF"/>
                </a:solidFill>
                <a:effectLst/>
                <a:latin typeface="Calibri" panose="020B0604020202020204" pitchFamily="34" charset="0"/>
              </a:rPr>
              <a:t>UART avoids this problem by using </a:t>
            </a: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rgbClr val="FFFFFF"/>
                </a:solidFill>
                <a:effectLst/>
                <a:latin typeface="Calibri" panose="020B0604020202020204" pitchFamily="34" charset="0"/>
              </a:rPr>
              <a:t>start/stop bits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rgbClr val="FFFFFF"/>
                </a:solidFill>
                <a:effectLst/>
                <a:latin typeface="Calibri" panose="020B0604020202020204" pitchFamily="34" charset="0"/>
              </a:rPr>
              <a:t> and </a:t>
            </a: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rgbClr val="FFFFFF"/>
                </a:solidFill>
                <a:effectLst/>
                <a:latin typeface="Calibri" panose="020B0604020202020204" pitchFamily="34" charset="0"/>
              </a:rPr>
              <a:t>oversampling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rgbClr val="FFFFFF"/>
                </a:solidFill>
                <a:effectLst/>
                <a:latin typeface="Calibri" panose="020B0604020202020204" pitchFamily="34" charset="0"/>
              </a:rPr>
              <a:t>, letting each device stay synchronized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rgbClr val="FFFFFF"/>
                </a:solidFill>
                <a:effectLst/>
                <a:latin typeface="Calibri" panose="020B0604020202020204" pitchFamily="34" charset="0"/>
              </a:rPr>
              <a:t>without an external clock.</a:t>
            </a:r>
          </a:p>
        </p:txBody>
      </p:sp>
    </p:spTree>
    <p:extLst>
      <p:ext uri="{BB962C8B-B14F-4D97-AF65-F5344CB8AC3E}">
        <p14:creationId xmlns:p14="http://schemas.microsoft.com/office/powerpoint/2010/main" val="2504972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284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0D40D1-0F16-2816-1432-95B382FE17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88136" y="571501"/>
            <a:ext cx="9922764" cy="1111526"/>
          </a:xfrm>
        </p:spPr>
        <p:txBody>
          <a:bodyPr>
            <a:normAutofit fontScale="90000"/>
          </a:bodyPr>
          <a:lstStyle/>
          <a:p>
            <a:r>
              <a:rPr lang="en-US" b="1" dirty="0" sz="2800">
                <a:solidFill>
                  <a:srgbClr val="FFFFFF"/>
                </a:solidFill>
                <a:latin typeface="Calibri"/>
              </a:rPr>
              <a:t>FIFO in UART  </a:t>
            </a:r>
            <a:br>
              <a:rPr lang="en-US" b="1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C9F977A-5EC5-72AB-F010-76D6628E941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88136" y="1537252"/>
            <a:ext cx="9922764" cy="4749249"/>
          </a:xfrm>
        </p:spPr>
        <p:txBody>
          <a:bodyPr>
            <a:normAutofit lnSpcReduction="10000"/>
          </a:bodyPr>
          <a:lstStyle/>
          <a:p>
            <a:pPr>
              <a:buFont typeface="+mj-lt"/>
              <a:buAutoNum type="arabicPeriod"/>
            </a:pPr>
            <a:r>
              <a:rPr lang="en-US" b="1" dirty="0" sz="2800">
                <a:solidFill>
                  <a:srgbClr val="FFFFFF"/>
                </a:solidFill>
                <a:latin typeface="Calibri"/>
              </a:rPr>
              <a:t>Temporary Storage Area:</a:t>
            </a:r>
            <a:br>
              <a:rPr lang="en-US" dirty="0"/>
            </a:br>
            <a:r>
              <a:rPr lang="en-US" dirty="0" sz="2800">
                <a:solidFill>
                  <a:srgbClr val="FFFFFF"/>
                </a:solidFill>
                <a:latin typeface="Calibri"/>
              </a:rPr>
              <a:t>The FIFO (First-In, First-Out) inside a UART acts like a small storage box that holds multiple bytes of data.</a:t>
            </a:r>
          </a:p>
          <a:p>
            <a:pPr marL="742950" lvl="1" indent="-285750">
              <a:buFont typeface="+mj-lt"/>
              <a:buAutoNum type="arabicPeriod"/>
            </a:pPr>
            <a:r>
              <a:rPr lang="en-US" b="1" dirty="0" sz="2800">
                <a:solidFill>
                  <a:srgbClr val="FFFFFF"/>
                </a:solidFill>
                <a:latin typeface="Calibri"/>
              </a:rPr>
              <a:t>TX FIFO:</a:t>
            </a:r>
            <a:r>
              <a:rPr lang="en-US" dirty="0" sz="2800">
                <a:solidFill>
                  <a:srgbClr val="FFFFFF"/>
                </a:solidFill>
                <a:latin typeface="Calibri"/>
              </a:rPr>
              <a:t> stores outgoing data before it is sent</a:t>
            </a:r>
          </a:p>
          <a:p>
            <a:pPr marL="742950" lvl="1" indent="-285750">
              <a:buFont typeface="+mj-lt"/>
              <a:buAutoNum type="arabicPeriod"/>
            </a:pPr>
            <a:r>
              <a:rPr lang="en-US" b="1" dirty="0" sz="2800">
                <a:solidFill>
                  <a:srgbClr val="FFFFFF"/>
                </a:solidFill>
                <a:latin typeface="Calibri"/>
              </a:rPr>
              <a:t>RX FIFO:</a:t>
            </a:r>
            <a:r>
              <a:rPr lang="en-US" dirty="0" sz="2800">
                <a:solidFill>
                  <a:srgbClr val="FFFFFF"/>
                </a:solidFill>
                <a:latin typeface="Calibri"/>
              </a:rPr>
              <a:t> stores incoming data before the CPU reads it</a:t>
            </a:r>
          </a:p>
          <a:p>
            <a:pPr>
              <a:buFont typeface="+mj-lt"/>
              <a:buAutoNum type="arabicPeriod"/>
            </a:pPr>
            <a:r>
              <a:rPr lang="en-US" b="1" dirty="0" sz="2800">
                <a:solidFill>
                  <a:srgbClr val="FFFFFF"/>
                </a:solidFill>
                <a:latin typeface="Calibri"/>
              </a:rPr>
              <a:t>Data Comes In and Goes Out in Order:</a:t>
            </a:r>
            <a:br>
              <a:rPr lang="en-US" dirty="0"/>
            </a:br>
            <a:r>
              <a:rPr lang="en-US" dirty="0" sz="2800">
                <a:solidFill>
                  <a:srgbClr val="FFFFFF"/>
                </a:solidFill>
                <a:latin typeface="Calibri"/>
              </a:rPr>
              <a:t>The first byte that enters the FIFO is the first byte that comes out.</a:t>
            </a:r>
            <a:br>
              <a:rPr lang="en-US" dirty="0"/>
            </a:br>
            <a:r>
              <a:rPr lang="en-US" dirty="0" sz="2800">
                <a:solidFill>
                  <a:srgbClr val="FFFFFF"/>
                </a:solidFill>
                <a:latin typeface="Calibri"/>
              </a:rPr>
              <a:t>This prevents data loss when data arrives quickly or when the CPU is busy.</a:t>
            </a:r>
          </a:p>
          <a:p>
            <a:pPr>
              <a:buFont typeface="+mj-lt"/>
              <a:buAutoNum type="arabicPeriod"/>
            </a:pPr>
            <a:r>
              <a:rPr lang="en-US" b="1" dirty="0" sz="2800">
                <a:solidFill>
                  <a:srgbClr val="FFFFFF"/>
                </a:solidFill>
                <a:latin typeface="Calibri"/>
              </a:rPr>
              <a:t>Reduces CPU Load &amp; Interrupts:</a:t>
            </a:r>
            <a:br>
              <a:rPr lang="en-US" dirty="0"/>
            </a:br>
            <a:r>
              <a:rPr lang="en-US" dirty="0" sz="2800">
                <a:solidFill>
                  <a:srgbClr val="FFFFFF"/>
                </a:solidFill>
                <a:latin typeface="Calibri"/>
              </a:rPr>
              <a:t>Instead of interrupting the CPU for every single byte, the UART interrupts only when the FIFO reaches a certain level (e.g., half full).</a:t>
            </a:r>
            <a:br>
              <a:rPr lang="en-US" dirty="0"/>
            </a:br>
            <a:r>
              <a:rPr lang="en-US" dirty="0" sz="2800">
                <a:solidFill>
                  <a:srgbClr val="FFFFFF"/>
                </a:solidFill>
                <a:latin typeface="Calibri"/>
              </a:rPr>
              <a:t>This makes communication smoother and more efficient.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02244571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284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D8689CE0-64D2-447C-9C1F-872D111D8A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0" y="1185205"/>
            <a:ext cx="804195" cy="0"/>
          </a:xfrm>
          <a:prstGeom prst="line">
            <a:avLst/>
          </a:prstGeom>
          <a:ln w="857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33" name="Rectangle 32">
            <a:extLst>
              <a:ext uri="{FF2B5EF4-FFF2-40B4-BE49-F238E27FC236}">
                <a16:creationId xmlns:a16="http://schemas.microsoft.com/office/drawing/2014/main" id="{902D1A37-7C2A-4258-95A8-919D781C699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6" name="Graphic 25">
            <a:extLst>
              <a:ext uri="{FF2B5EF4-FFF2-40B4-BE49-F238E27FC236}">
                <a16:creationId xmlns:a16="http://schemas.microsoft.com/office/drawing/2014/main" id="{AE537DB2-6AC5-1D81-217C-8B472B4A7A9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263642" y="3307082"/>
            <a:ext cx="5117537" cy="3215633"/>
          </a:xfrm>
          <a:prstGeom prst="rect">
            <a:avLst/>
          </a:prstGeom>
        </p:spPr>
      </p:pic>
      <p:pic>
        <p:nvPicPr>
          <p:cNvPr id="19" name="Content Placeholder 18">
            <a:extLst>
              <a:ext uri="{FF2B5EF4-FFF2-40B4-BE49-F238E27FC236}">
                <a16:creationId xmlns:a16="http://schemas.microsoft.com/office/drawing/2014/main" id="{42A6DEFA-E8C5-E0D4-C0D5-531822C5569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10821" y="441962"/>
            <a:ext cx="5117539" cy="3215637"/>
          </a:xfrm>
          <a:prstGeom prst="rect">
            <a:avLst/>
          </a:prstGeom>
        </p:spPr>
      </p:pic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B0AA360F-DECB-4836-8FB6-22C4BC3FB0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-6626" y="4609748"/>
            <a:ext cx="804195" cy="0"/>
          </a:xfrm>
          <a:prstGeom prst="line">
            <a:avLst/>
          </a:prstGeom>
          <a:ln w="857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6868110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284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4" name="Rectangle 23">
            <a:extLst>
              <a:ext uri="{FF2B5EF4-FFF2-40B4-BE49-F238E27FC236}">
                <a16:creationId xmlns:a16="http://schemas.microsoft.com/office/drawing/2014/main" id="{E75A73A0-BB15-427A-AB69-E8FF2A9E4E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01EA6D4-E58A-A2FF-FAEB-F67277527F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80258" y="410382"/>
            <a:ext cx="4373289" cy="4236720"/>
          </a:xfrm>
        </p:spPr>
        <p:txBody>
          <a:bodyPr>
            <a:normAutofit/>
          </a:bodyPr>
          <a:lstStyle/>
          <a:p>
            <a:r>
              <a:rPr lang="en-US" sz="2800" b="1" dirty="0">
                <a:solidFill>
                  <a:srgbClr val="FFFFFF"/>
                </a:solidFill>
                <a:latin typeface="Calibri"/>
              </a:rPr>
              <a:t>TX(</a:t>
            </a:r>
            <a:r>
              <a:rPr lang="en-US" sz="2800" b="1" dirty="0" err="1">
                <a:solidFill>
                  <a:srgbClr val="FFFFFF"/>
                </a:solidFill>
                <a:latin typeface="Calibri"/>
              </a:rPr>
              <a:t>Transmiter</a:t>
            </a:r>
            <a:r>
              <a:rPr lang="en-US" sz="2800" b="1" dirty="0">
                <a:solidFill>
                  <a:srgbClr val="FFFFFF"/>
                </a:solidFill>
                <a:latin typeface="Calibri"/>
              </a:rPr>
              <a:t>) </a:t>
            </a:r>
            <a:br>
              <a:rPr lang="en-US" sz="4000" b="1" dirty="0"/>
            </a:br>
            <a:endParaRPr lang="en-IN" sz="4000" dirty="0"/>
          </a:p>
        </p:txBody>
      </p: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F0748755-DDBC-46D0-91EC-1212A8EE2B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-5976" y="1185078"/>
            <a:ext cx="804195" cy="0"/>
          </a:xfrm>
          <a:prstGeom prst="line">
            <a:avLst/>
          </a:prstGeom>
          <a:ln w="857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Picture 4" descr="A diagram of a row of hexagons&#10;&#10;Description automatically generated">
            <a:extLst>
              <a:ext uri="{FF2B5EF4-FFF2-40B4-BE49-F238E27FC236}">
                <a16:creationId xmlns:a16="http://schemas.microsoft.com/office/drawing/2014/main" id="{909DBE79-1BA9-52B4-CB99-979C4B28579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71600" y="4573036"/>
            <a:ext cx="9464040" cy="2025884"/>
          </a:xfrm>
          <a:prstGeom prst="rect">
            <a:avLst/>
          </a:prstGeom>
        </p:spPr>
      </p:pic>
      <p:graphicFrame>
        <p:nvGraphicFramePr>
          <p:cNvPr id="9" name="Content Placeholder 2">
            <a:extLst>
              <a:ext uri="{FF2B5EF4-FFF2-40B4-BE49-F238E27FC236}">
                <a16:creationId xmlns:a16="http://schemas.microsoft.com/office/drawing/2014/main" id="{B6775D27-88A4-4D68-C5C4-3287AB4B65C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280154560"/>
              </p:ext>
            </p:extLst>
          </p:nvPr>
        </p:nvGraphicFramePr>
        <p:xfrm>
          <a:off x="3078480" y="1185078"/>
          <a:ext cx="5431453" cy="298699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32240435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284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D8689CE0-64D2-447C-9C1F-872D111D8A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0" y="1185205"/>
            <a:ext cx="804195" cy="0"/>
          </a:xfrm>
          <a:prstGeom prst="line">
            <a:avLst/>
          </a:prstGeom>
          <a:ln w="857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902D1A37-7C2A-4258-95A8-919D781C699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B0AA360F-DECB-4836-8FB6-22C4BC3FB0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-6626" y="1185999"/>
            <a:ext cx="804195" cy="0"/>
          </a:xfrm>
          <a:prstGeom prst="line">
            <a:avLst/>
          </a:prstGeom>
          <a:ln w="857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A43B8C49-2F6D-54A0-BF79-44F21320145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44086" y="1670006"/>
            <a:ext cx="3758907" cy="4061435"/>
          </a:xfrm>
          <a:prstGeom prst="rect">
            <a:avLst/>
          </a:prstGeom>
        </p:spPr>
      </p:pic>
      <p:pic>
        <p:nvPicPr>
          <p:cNvPr id="13" name="Graphic 12">
            <a:extLst>
              <a:ext uri="{FF2B5EF4-FFF2-40B4-BE49-F238E27FC236}">
                <a16:creationId xmlns:a16="http://schemas.microsoft.com/office/drawing/2014/main" id="{F5C0C08D-582C-EE80-4BAF-A6BA9B3F519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847079" y="2171960"/>
            <a:ext cx="5153025" cy="30575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5131234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284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60D7D4-8979-49C7-9699-A29147E1F2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z="2800">
                <a:solidFill>
                  <a:srgbClr val="FFFFFF"/>
                </a:solidFill>
                <a:latin typeface="Calibri"/>
              </a:rPr>
              <a:t>RX (Receiver)</a:t>
            </a:r>
            <a:br>
              <a:rPr lang="en-US" b="1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B9D019-DDC9-E380-43B1-58BC848CD99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88136" y="2082018"/>
            <a:ext cx="9922764" cy="3838722"/>
          </a:xfrm>
        </p:spPr>
        <p:txBody>
          <a:bodyPr>
            <a:normAutofit fontScale="92500" lnSpcReduction="10000"/>
          </a:bodyPr>
          <a:lstStyle/>
          <a:p>
            <a:pPr>
              <a:buFont typeface="+mj-lt"/>
              <a:buAutoNum type="arabicPeriod"/>
            </a:pPr>
            <a:r>
              <a:rPr lang="en-US" b="1" dirty="0" sz="2800">
                <a:solidFill>
                  <a:srgbClr val="FFFFFF"/>
                </a:solidFill>
                <a:latin typeface="Calibri"/>
              </a:rPr>
              <a:t>Start Bit Detection:</a:t>
            </a:r>
            <a:br>
              <a:rPr lang="en-US" dirty="0"/>
            </a:br>
            <a:r>
              <a:rPr lang="en-US" dirty="0" sz="2800">
                <a:solidFill>
                  <a:srgbClr val="FFFFFF"/>
                </a:solidFill>
                <a:latin typeface="Calibri"/>
              </a:rPr>
              <a:t>Receiver watches the RX line and detects a falling edge (start bit).</a:t>
            </a:r>
          </a:p>
          <a:p>
            <a:pPr>
              <a:buFont typeface="+mj-lt"/>
              <a:buAutoNum type="arabicPeriod"/>
            </a:pPr>
            <a:r>
              <a:rPr lang="en-US" b="1" dirty="0" sz="2800">
                <a:solidFill>
                  <a:srgbClr val="FFFFFF"/>
                </a:solidFill>
                <a:latin typeface="Calibri"/>
              </a:rPr>
              <a:t>Oversampling:</a:t>
            </a:r>
            <a:br>
              <a:rPr lang="en-US" dirty="0"/>
            </a:br>
            <a:r>
              <a:rPr lang="en-US" dirty="0" sz="2800">
                <a:solidFill>
                  <a:srgbClr val="FFFFFF"/>
                </a:solidFill>
                <a:latin typeface="Calibri"/>
              </a:rPr>
              <a:t>It uses 16× (or 8×) oversampling to accurately find the middle of each bit.</a:t>
            </a:r>
          </a:p>
          <a:p>
            <a:pPr>
              <a:buFont typeface="+mj-lt"/>
              <a:buAutoNum type="arabicPeriod"/>
            </a:pPr>
            <a:r>
              <a:rPr lang="en-US" b="1" dirty="0" sz="2800">
                <a:solidFill>
                  <a:srgbClr val="FFFFFF"/>
                </a:solidFill>
                <a:latin typeface="Calibri"/>
              </a:rPr>
              <a:t>Bit Sampling:</a:t>
            </a:r>
            <a:br>
              <a:rPr lang="en-US" dirty="0"/>
            </a:br>
            <a:r>
              <a:rPr lang="en-US" dirty="0" sz="2800">
                <a:solidFill>
                  <a:srgbClr val="FFFFFF"/>
                </a:solidFill>
                <a:latin typeface="Calibri"/>
              </a:rPr>
              <a:t>Samples each bit (data, parity, stop) at the </a:t>
            </a:r>
            <a:r>
              <a:rPr lang="en-US" b="1" dirty="0" sz="2800">
                <a:solidFill>
                  <a:srgbClr val="FFFFFF"/>
                </a:solidFill>
                <a:latin typeface="Calibri"/>
              </a:rPr>
              <a:t>middle</a:t>
            </a:r>
            <a:r>
              <a:rPr lang="en-US" dirty="0" sz="2800">
                <a:solidFill>
                  <a:srgbClr val="FFFFFF"/>
                </a:solidFill>
                <a:latin typeface="Calibri"/>
              </a:rPr>
              <a:t> of its bit period.</a:t>
            </a:r>
          </a:p>
          <a:p>
            <a:pPr>
              <a:buFont typeface="+mj-lt"/>
              <a:buAutoNum type="arabicPeriod"/>
            </a:pPr>
            <a:r>
              <a:rPr lang="en-US" b="1" dirty="0" sz="2800">
                <a:solidFill>
                  <a:srgbClr val="FFFFFF"/>
                </a:solidFill>
                <a:latin typeface="Calibri"/>
              </a:rPr>
              <a:t>Data Assembly &amp; Error Check:</a:t>
            </a:r>
            <a:br>
              <a:rPr lang="en-US" dirty="0"/>
            </a:br>
            <a:r>
              <a:rPr lang="en-US" dirty="0" sz="2800">
                <a:solidFill>
                  <a:srgbClr val="FFFFFF"/>
                </a:solidFill>
                <a:latin typeface="Calibri"/>
              </a:rPr>
              <a:t>Collected bits form a byte; parity and framing (stop bit) are checked.</a:t>
            </a:r>
          </a:p>
          <a:p>
            <a:pPr>
              <a:buFont typeface="+mj-lt"/>
              <a:buAutoNum type="arabicPeriod"/>
            </a:pPr>
            <a:r>
              <a:rPr lang="en-US" b="1" dirty="0" sz="2800">
                <a:solidFill>
                  <a:srgbClr val="FFFFFF"/>
                </a:solidFill>
                <a:latin typeface="Calibri"/>
              </a:rPr>
              <a:t>Store &amp; Interrupt:</a:t>
            </a:r>
            <a:br>
              <a:rPr lang="en-US" dirty="0"/>
            </a:br>
            <a:r>
              <a:rPr lang="en-US" dirty="0" sz="2800">
                <a:solidFill>
                  <a:srgbClr val="FFFFFF"/>
                </a:solidFill>
                <a:latin typeface="Calibri"/>
              </a:rPr>
              <a:t>The received byte is placed into the RX FIFO or register, and an interrupt may be generated.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99201855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284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257894-6885-759B-476E-8023F00937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81100" y="372981"/>
            <a:ext cx="9922764" cy="632460"/>
          </a:xfrm>
        </p:spPr>
        <p:txBody>
          <a:bodyPr>
            <a:normAutofit fontScale="90000"/>
          </a:bodyPr>
          <a:lstStyle/>
          <a:p>
            <a:r>
              <a:rPr lang="en-US" b="1" dirty="0" sz="2800">
                <a:solidFill>
                  <a:srgbClr val="FFFFFF"/>
                </a:solidFill>
                <a:latin typeface="Calibri"/>
              </a:rPr>
              <a:t>Baud Rate</a:t>
            </a:r>
            <a:br>
              <a:rPr lang="en-US" b="1" dirty="0"/>
            </a:br>
            <a:endParaRPr lang="en-IN" sz="2000" b="0" dirty="0"/>
          </a:p>
        </p:txBody>
      </p:sp>
      <p:pic>
        <p:nvPicPr>
          <p:cNvPr id="5" name="Content Placeholder 4" descr="A screenshot of a computer&#10;&#10;Description automatically generated">
            <a:extLst>
              <a:ext uri="{FF2B5EF4-FFF2-40B4-BE49-F238E27FC236}">
                <a16:creationId xmlns:a16="http://schemas.microsoft.com/office/drawing/2014/main" id="{FEB5A27A-A3A9-036A-F233-6D48D638AC2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60576" y="2745913"/>
            <a:ext cx="8488680" cy="3962151"/>
          </a:xfr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04D2D008-BB47-D836-1210-A95B3ECEF471}"/>
              </a:ext>
            </a:extLst>
          </p:cNvPr>
          <p:cNvSpPr txBox="1"/>
          <p:nvPr/>
        </p:nvSpPr>
        <p:spPr>
          <a:xfrm>
            <a:off x="1181100" y="1005441"/>
            <a:ext cx="9922764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0" dirty="0">
                <a:solidFill>
                  <a:srgbClr val="FFFFFF"/>
                </a:solidFill>
                <a:latin typeface="Calibri"/>
              </a:rPr>
              <a:t>Baud rate is the number of bits transmitted per second in serial communication.</a:t>
            </a:r>
            <a:br>
              <a:rPr lang="en-US" sz="2400" b="0" dirty="0"/>
            </a:br>
            <a:r>
              <a:rPr lang="en-US" sz="2800" b="0" dirty="0">
                <a:solidFill>
                  <a:srgbClr val="FFFFFF"/>
                </a:solidFill>
                <a:latin typeface="Calibri"/>
              </a:rPr>
              <a:t>9600 baud → 9600 bits are sent every second</a:t>
            </a:r>
            <a:br>
              <a:rPr lang="en-US" sz="2400" b="0" dirty="0"/>
            </a:br>
            <a:r>
              <a:rPr lang="en-US" sz="2800" b="0" dirty="0">
                <a:solidFill>
                  <a:srgbClr val="FFFFFF"/>
                </a:solidFill>
                <a:latin typeface="Calibri"/>
              </a:rPr>
              <a:t>It tells how fast data is being transferred over a serial line like UART.</a:t>
            </a:r>
            <a:br>
              <a:rPr lang="en-US" sz="2400" b="0" dirty="0"/>
            </a:br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422763686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284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7942B8-0039-5784-4304-FC1E3FB160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99160" y="594360"/>
            <a:ext cx="10111740" cy="1790113"/>
          </a:xfrm>
        </p:spPr>
        <p:txBody>
          <a:bodyPr>
            <a:normAutofit/>
          </a:bodyPr>
          <a:lstStyle/>
          <a:p>
            <a:r>
              <a:rPr lang="en-US" b="1" dirty="0" sz="2800">
                <a:solidFill>
                  <a:srgbClr val="FFFFFF"/>
                </a:solidFill>
                <a:latin typeface="Calibri"/>
              </a:rPr>
              <a:t>   Why Sampling Is Needed</a:t>
            </a:r>
            <a:br>
              <a:rPr lang="en-US" b="1" dirty="0"/>
            </a:br>
            <a:endParaRPr lang="en-IN" sz="2200" b="0" dirty="0"/>
          </a:p>
        </p:txBody>
      </p:sp>
      <p:pic>
        <p:nvPicPr>
          <p:cNvPr id="13" name="Content Placeholder 12" descr="A black background with white text&#10;&#10;Description automatically generated">
            <a:extLst>
              <a:ext uri="{FF2B5EF4-FFF2-40B4-BE49-F238E27FC236}">
                <a16:creationId xmlns:a16="http://schemas.microsoft.com/office/drawing/2014/main" id="{00780968-9279-4F56-1E67-5E9B08E0E10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63189" y="3308806"/>
            <a:ext cx="8119011" cy="3036750"/>
          </a:xfr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96CB7528-F170-2B6E-AC68-9D589FE7785B}"/>
              </a:ext>
            </a:extLst>
          </p:cNvPr>
          <p:cNvSpPr txBox="1"/>
          <p:nvPr/>
        </p:nvSpPr>
        <p:spPr>
          <a:xfrm>
            <a:off x="1355598" y="1360412"/>
            <a:ext cx="9198864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0" dirty="0">
                <a:solidFill>
                  <a:srgbClr val="FFFFFF"/>
                </a:solidFill>
                <a:latin typeface="Calibri"/>
              </a:rPr>
              <a:t>UART has no clock line, so it must recreate timing by sampling.</a:t>
            </a:r>
            <a:br>
              <a:rPr lang="en-US" sz="2400" b="0" dirty="0"/>
            </a:br>
            <a:r>
              <a:rPr lang="en-US" sz="2800" b="0" dirty="0">
                <a:solidFill>
                  <a:srgbClr val="FFFFFF"/>
                </a:solidFill>
                <a:latin typeface="Calibri"/>
              </a:rPr>
              <a:t>Oversampling makes reception accurate, even if transmitter and receiver clocks are slightly different.</a:t>
            </a:r>
            <a:r>
              <a:rPr lang="en-US" sz="2800" dirty="0">
                <a:solidFill>
                  <a:srgbClr val="FFFFFF"/>
                </a:solidFill>
                <a:latin typeface="Calibri"/>
              </a:rPr>
              <a:t> </a:t>
            </a:r>
          </a:p>
          <a:p>
            <a:endParaRPr lang="en-US" sz="2400" dirty="0"/>
          </a:p>
          <a:p>
            <a:r>
              <a:rPr lang="en-US" sz="2800" dirty="0">
                <a:solidFill>
                  <a:srgbClr val="FFFFFF"/>
                </a:solidFill>
                <a:latin typeface="Calibri"/>
              </a:rPr>
              <a:t>                                       16x(oversampling)</a:t>
            </a:r>
            <a:br>
              <a:rPr lang="en-US" sz="2400" b="0" dirty="0"/>
            </a:br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285158555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284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2B1F1D-B457-72D1-6059-A62F62F210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88136" y="487679"/>
            <a:ext cx="9922764" cy="874931"/>
          </a:xfrm>
        </p:spPr>
        <p:txBody>
          <a:bodyPr/>
          <a:lstStyle/>
          <a:p>
            <a:endParaRPr lang="en-IN" dirty="0"/>
          </a:p>
        </p:txBody>
      </p:sp>
      <p:pic>
        <p:nvPicPr>
          <p:cNvPr id="5" name="Content Placeholder 4" descr="A screenshot of a computer&#10;&#10;Description automatically generated">
            <a:extLst>
              <a:ext uri="{FF2B5EF4-FFF2-40B4-BE49-F238E27FC236}">
                <a16:creationId xmlns:a16="http://schemas.microsoft.com/office/drawing/2014/main" id="{539F3BB4-0B45-BACB-C3E0-7D6A4B78CA8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895600"/>
            <a:ext cx="7722415" cy="3718559"/>
          </a:xfr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F69F542A-65A5-DA39-3FD8-4114B037CB5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25641" y="3017520"/>
            <a:ext cx="4800600" cy="3596639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24619189-02BB-3FDD-FEA7-961B68AEE056}"/>
              </a:ext>
            </a:extLst>
          </p:cNvPr>
          <p:cNvSpPr txBox="1"/>
          <p:nvPr/>
        </p:nvSpPr>
        <p:spPr>
          <a:xfrm>
            <a:off x="1312926" y="1362610"/>
            <a:ext cx="947318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dirty="0">
                <a:solidFill>
                  <a:srgbClr val="FFFFFF"/>
                </a:solidFill>
                <a:latin typeface="Calibri"/>
              </a:rPr>
              <a:t>Middle Sample = 8 samples = 8 × </a:t>
            </a:r>
            <a:r>
              <a:rPr lang="en-IN" sz="2800" dirty="0" err="1">
                <a:solidFill>
                  <a:srgbClr val="FFFFFF"/>
                </a:solidFill>
                <a:latin typeface="Calibri"/>
              </a:rPr>
              <a:t>Tsample</a:t>
            </a:r>
            <a:r>
              <a:rPr lang="en-IN" sz="2800" dirty="0">
                <a:solidFill>
                  <a:srgbClr val="FFFFFF"/>
                </a:solidFill>
                <a:latin typeface="Calibri"/>
              </a:rPr>
              <a:t>​ </a:t>
            </a:r>
            <a:endParaRPr lang="en-IN" sz="2400" b="1" dirty="0"/>
          </a:p>
          <a:p>
            <a:r>
              <a:rPr lang="en-IN" sz="2800" dirty="0">
                <a:solidFill>
                  <a:srgbClr val="FFFFFF"/>
                </a:solidFill>
                <a:latin typeface="Calibri"/>
              </a:rPr>
              <a:t>Middle Sample = 8 × 6.51 </a:t>
            </a:r>
            <a:r>
              <a:rPr lang="el-GR" sz="2800" dirty="0">
                <a:solidFill>
                  <a:srgbClr val="FFFFFF"/>
                </a:solidFill>
                <a:latin typeface="Calibri"/>
              </a:rPr>
              <a:t>μ</a:t>
            </a:r>
            <a:r>
              <a:rPr lang="en-IN" sz="2800" dirty="0">
                <a:solidFill>
                  <a:srgbClr val="FFFFFF"/>
                </a:solidFill>
                <a:latin typeface="Calibri"/>
              </a:rPr>
              <a:t>s = 52.08</a:t>
            </a:r>
            <a:r>
              <a:rPr lang="el-GR" sz="2800" dirty="0">
                <a:solidFill>
                  <a:srgbClr val="FFFFFF"/>
                </a:solidFill>
                <a:latin typeface="Calibri"/>
              </a:rPr>
              <a:t> μ</a:t>
            </a:r>
            <a:r>
              <a:rPr lang="en-IN" sz="2800" dirty="0">
                <a:solidFill>
                  <a:srgbClr val="FFFFFF"/>
                </a:solidFill>
                <a:latin typeface="Calibri"/>
              </a:rPr>
              <a:t>s</a:t>
            </a:r>
          </a:p>
        </p:txBody>
      </p:sp>
    </p:spTree>
    <p:extLst>
      <p:ext uri="{BB962C8B-B14F-4D97-AF65-F5344CB8AC3E}">
        <p14:creationId xmlns:p14="http://schemas.microsoft.com/office/powerpoint/2010/main" val="73880518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284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D8689CE0-64D2-447C-9C1F-872D111D8A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0" y="1185205"/>
            <a:ext cx="804195" cy="0"/>
          </a:xfrm>
          <a:prstGeom prst="line">
            <a:avLst/>
          </a:prstGeom>
          <a:ln w="857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18" name="Rectangle 17">
            <a:extLst>
              <a:ext uri="{FF2B5EF4-FFF2-40B4-BE49-F238E27FC236}">
                <a16:creationId xmlns:a16="http://schemas.microsoft.com/office/drawing/2014/main" id="{902D1A37-7C2A-4258-95A8-919D781C699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B0AA360F-DECB-4836-8FB6-22C4BC3FB0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-6626" y="1185999"/>
            <a:ext cx="804195" cy="0"/>
          </a:xfrm>
          <a:prstGeom prst="line">
            <a:avLst/>
          </a:prstGeom>
          <a:ln w="857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CF42CEBD-9476-98FA-FF3D-9AED8FC3A55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54042" y="819004"/>
            <a:ext cx="5040917" cy="5674995"/>
          </a:xfrm>
          <a:prstGeom prst="rect">
            <a:avLst/>
          </a:prstGeom>
        </p:spPr>
      </p:pic>
      <p:pic>
        <p:nvPicPr>
          <p:cNvPr id="11" name="Graphic 10">
            <a:extLst>
              <a:ext uri="{FF2B5EF4-FFF2-40B4-BE49-F238E27FC236}">
                <a16:creationId xmlns:a16="http://schemas.microsoft.com/office/drawing/2014/main" id="{4859C734-4FE9-3EEC-F43E-0C0F0A55EF6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806440" y="2252215"/>
            <a:ext cx="5974079" cy="28085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540994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284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1B42B9-EFE1-A141-CB68-F098FF46CE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z="2800">
                <a:solidFill>
                  <a:srgbClr val="FFFFFF"/>
                </a:solidFill>
                <a:latin typeface="Calibri"/>
              </a:rPr>
              <a:t>Control signals for </a:t>
            </a:r>
            <a:r>
              <a:rPr lang="en-US" dirty="0" err="1" sz="2800">
                <a:solidFill>
                  <a:srgbClr val="FFFFFF"/>
                </a:solidFill>
                <a:latin typeface="Calibri"/>
              </a:rPr>
              <a:t>tx</a:t>
            </a:r>
            <a:r>
              <a:rPr lang="en-US" dirty="0" sz="2800">
                <a:solidFill>
                  <a:srgbClr val="FFFFFF"/>
                </a:solidFill>
                <a:latin typeface="Calibri"/>
              </a:rPr>
              <a:t> and </a:t>
            </a:r>
            <a:r>
              <a:rPr lang="en-US" dirty="0" err="1" sz="2800">
                <a:solidFill>
                  <a:srgbClr val="FFFFFF"/>
                </a:solidFill>
                <a:latin typeface="Calibri"/>
              </a:rPr>
              <a:t>rx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0F5D09-B9DB-1158-204A-21599AACAFB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88136" y="2026920"/>
            <a:ext cx="9922764" cy="4259580"/>
          </a:xfrm>
        </p:spPr>
        <p:txBody>
          <a:bodyPr>
            <a:normAutofit lnSpcReduction="10000"/>
          </a:bodyPr>
          <a:lstStyle/>
          <a:p>
            <a:r>
              <a:rPr lang="en-US" b="1" dirty="0" sz="2800">
                <a:solidFill>
                  <a:srgbClr val="FFFFFF"/>
                </a:solidFill>
                <a:latin typeface="Calibri"/>
              </a:rPr>
              <a:t>RTS (Request to Send)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 sz="2800">
                <a:solidFill>
                  <a:srgbClr val="FFFFFF"/>
                </a:solidFill>
                <a:latin typeface="Calibri"/>
              </a:rPr>
              <a:t>Output from the device.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 sz="2800">
                <a:solidFill>
                  <a:srgbClr val="FFFFFF"/>
                </a:solidFill>
                <a:latin typeface="Calibri"/>
              </a:rPr>
              <a:t>Indicates the device is </a:t>
            </a:r>
            <a:r>
              <a:rPr lang="en-US" b="1" dirty="0" sz="2800">
                <a:solidFill>
                  <a:srgbClr val="FFFFFF"/>
                </a:solidFill>
                <a:latin typeface="Calibri"/>
              </a:rPr>
              <a:t>ready to receive data</a:t>
            </a:r>
            <a:r>
              <a:rPr lang="en-US" dirty="0" sz="2800">
                <a:solidFill>
                  <a:srgbClr val="FFFFFF"/>
                </a:solidFill>
                <a:latin typeface="Calibri"/>
              </a:rPr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 sz="2800">
                <a:solidFill>
                  <a:srgbClr val="FFFFFF"/>
                </a:solidFill>
                <a:latin typeface="Calibri"/>
              </a:rPr>
              <a:t>When RTS = LOW → “I am ready, send data.”</a:t>
            </a:r>
          </a:p>
          <a:p>
            <a:r>
              <a:rPr lang="en-US" b="1" dirty="0" sz="2800">
                <a:solidFill>
                  <a:srgbClr val="FFFFFF"/>
                </a:solidFill>
                <a:latin typeface="Calibri"/>
              </a:rPr>
              <a:t>2. CTS (Clear to Send)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 sz="2800">
                <a:solidFill>
                  <a:srgbClr val="FFFFFF"/>
                </a:solidFill>
                <a:latin typeface="Calibri"/>
              </a:rPr>
              <a:t>Input to the device.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 sz="2800">
                <a:solidFill>
                  <a:srgbClr val="FFFFFF"/>
                </a:solidFill>
                <a:latin typeface="Calibri"/>
              </a:rPr>
              <a:t>Tells the transmitter </a:t>
            </a:r>
            <a:r>
              <a:rPr lang="en-US" b="1" dirty="0" sz="2800">
                <a:solidFill>
                  <a:srgbClr val="FFFFFF"/>
                </a:solidFill>
                <a:latin typeface="Calibri"/>
              </a:rPr>
              <a:t>when it is allowed to send</a:t>
            </a:r>
            <a:r>
              <a:rPr lang="en-US" dirty="0" sz="2800">
                <a:solidFill>
                  <a:srgbClr val="FFFFFF"/>
                </a:solidFill>
                <a:latin typeface="Calibri"/>
              </a:rPr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 sz="2800">
                <a:solidFill>
                  <a:srgbClr val="FFFFFF"/>
                </a:solidFill>
                <a:latin typeface="Calibri"/>
              </a:rPr>
              <a:t>CTS = LOW → “You may transmit now.”</a:t>
            </a:r>
          </a:p>
          <a:p>
            <a:r>
              <a:rPr lang="en-US" dirty="0" sz="2800">
                <a:solidFill>
                  <a:srgbClr val="FFFFFF"/>
                </a:solidFill>
                <a:latin typeface="Calibri"/>
              </a:rPr>
              <a:t>(This pair supports </a:t>
            </a:r>
            <a:r>
              <a:rPr lang="en-US" b="1" dirty="0" sz="2800">
                <a:solidFill>
                  <a:srgbClr val="FFFFFF"/>
                </a:solidFill>
                <a:latin typeface="Calibri"/>
              </a:rPr>
              <a:t>hardware flow control</a:t>
            </a:r>
            <a:r>
              <a:rPr lang="en-US" dirty="0" sz="2800">
                <a:solidFill>
                  <a:srgbClr val="FFFFFF"/>
                </a:solidFill>
                <a:latin typeface="Calibri"/>
              </a:rPr>
              <a:t>.)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62440246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284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7022F0-187F-E56E-99F0-0753E9056F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34618" y="1042739"/>
            <a:ext cx="9922764" cy="1294228"/>
          </a:xfrm>
        </p:spPr>
        <p:txBody>
          <a:bodyPr/>
          <a:lstStyle/>
          <a:p>
            <a:r>
              <a:rPr lang="en-US" dirty="0" sz="2800">
                <a:solidFill>
                  <a:srgbClr val="FFFFFF"/>
                </a:solidFill>
                <a:latin typeface="Calibri"/>
              </a:rPr>
              <a:t>advantages</a:t>
            </a:r>
            <a:endParaRPr lang="en-IN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A6D4DE77-FA0D-CBBB-E81F-FA25B67E15CC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156716" y="2029609"/>
            <a:ext cx="10702610" cy="378565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Courier New" panose="02070309020205020404" pitchFamily="49" charset="0"/>
              <a:buChar char="o"/>
            </a:pP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rgbClr val="FFFFFF"/>
                </a:solidFill>
                <a:effectLst/>
                <a:latin typeface="Calibri" panose="020B0604020202020204" pitchFamily="34" charset="0"/>
              </a:rPr>
              <a:t>Simple and low-cost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rgbClr val="FFFFFF"/>
                </a:solidFill>
                <a:effectLst/>
                <a:latin typeface="Calibri" panose="020B0604020202020204" pitchFamily="34" charset="0"/>
              </a:rPr>
              <a:t> </a:t>
            </a:r>
            <a:endParaRPr lang="en-US" altLang="en-US" sz="2000" dirty="0">
              <a:latin typeface="Arial" panose="020B0604020202020204" pitchFamily="34" charset="0"/>
            </a:endParaRP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rgbClr val="FFFFFF"/>
                </a:solidFill>
                <a:effectLst/>
                <a:latin typeface="Calibri" panose="020B0604020202020204" pitchFamily="34" charset="0"/>
              </a:rPr>
              <a:t>       – Needs only TX and RX lines, reducing wiring and hardware complexity.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Courier New" panose="02070309020205020404" pitchFamily="49" charset="0"/>
              <a:buChar char="o"/>
            </a:pP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rgbClr val="FFFFFF"/>
                </a:solidFill>
                <a:effectLst/>
                <a:latin typeface="Calibri" panose="020B0604020202020204" pitchFamily="34" charset="0"/>
              </a:rPr>
              <a:t>Asynchronous communication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rgbClr val="FFFFFF"/>
                </a:solidFill>
                <a:effectLst/>
                <a:latin typeface="Calibri" panose="020B0604020202020204" pitchFamily="34" charset="0"/>
              </a:rPr>
              <a:t> </a:t>
            </a: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2800" dirty="0">
                <a:solidFill>
                  <a:srgbClr val="FFFFFF"/>
                </a:solidFill>
                <a:latin typeface="Calibri" panose="020B0604020202020204" pitchFamily="34" charset="0"/>
              </a:rPr>
              <a:t>       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rgbClr val="FFFFFF"/>
                </a:solidFill>
                <a:effectLst/>
                <a:latin typeface="Calibri" panose="020B0604020202020204" pitchFamily="34" charset="0"/>
              </a:rPr>
              <a:t>– No clock line needed; devices only need to match baud rate.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Courier New" panose="02070309020205020404" pitchFamily="49" charset="0"/>
              <a:buChar char="o"/>
            </a:pP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rgbClr val="FFFFFF"/>
                </a:solidFill>
                <a:effectLst/>
                <a:latin typeface="Calibri" panose="020B0604020202020204" pitchFamily="34" charset="0"/>
              </a:rPr>
              <a:t>Full-duplex operation </a:t>
            </a: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rgbClr val="FFFFFF"/>
                </a:solidFill>
                <a:effectLst/>
                <a:latin typeface="Calibri" panose="020B0604020202020204" pitchFamily="34" charset="0"/>
              </a:rPr>
              <a:t>       – Can transmit and receive data simultaneously.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Courier New" panose="02070309020205020404" pitchFamily="49" charset="0"/>
              <a:buChar char="o"/>
            </a:pP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rgbClr val="FFFFFF"/>
                </a:solidFill>
                <a:effectLst/>
                <a:latin typeface="Calibri" panose="020B0604020202020204" pitchFamily="34" charset="0"/>
              </a:rPr>
              <a:t>Configurable format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rgbClr val="FFFFFF"/>
                </a:solidFill>
                <a:effectLst/>
                <a:latin typeface="Calibri" panose="020B0604020202020204" pitchFamily="34" charset="0"/>
              </a:rPr>
              <a:t> </a:t>
            </a: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rgbClr val="FFFFFF"/>
                </a:solidFill>
                <a:effectLst/>
                <a:latin typeface="Calibri" panose="020B0604020202020204" pitchFamily="34" charset="0"/>
              </a:rPr>
              <a:t>       – Adjustable baud rate, data bits, parity and stop bits for flexibility.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Courier New" panose="02070309020205020404" pitchFamily="49" charset="0"/>
              <a:buChar char="o"/>
            </a:pP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rgbClr val="FFFFFF"/>
                </a:solidFill>
                <a:effectLst/>
                <a:latin typeface="Calibri" panose="020B0604020202020204" pitchFamily="34" charset="0"/>
              </a:rPr>
              <a:t>Built-in error detection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rgbClr val="FFFFFF"/>
                </a:solidFill>
                <a:effectLst/>
                <a:latin typeface="Calibri" panose="020B0604020202020204" pitchFamily="34" charset="0"/>
              </a:rPr>
              <a:t> </a:t>
            </a: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rgbClr val="FFFFFF"/>
                </a:solidFill>
                <a:effectLst/>
                <a:latin typeface="Calibri" panose="020B0604020202020204" pitchFamily="34" charset="0"/>
              </a:rPr>
              <a:t>      – Supports parity checks and framing error detection for reliable data transfer.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Courier New" panose="02070309020205020404" pitchFamily="49" charset="0"/>
              <a:buChar char="o"/>
            </a:pP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rgbClr val="FFFFFF"/>
                </a:solidFill>
                <a:effectLst/>
                <a:latin typeface="Calibri" panose="020B0604020202020204" pitchFamily="34" charset="0"/>
              </a:rPr>
              <a:t>Widely supported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rgbClr val="FFFFFF"/>
                </a:solidFill>
                <a:effectLst/>
                <a:latin typeface="Calibri" panose="020B0604020202020204" pitchFamily="34" charset="0"/>
              </a:rPr>
              <a:t> </a:t>
            </a: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rgbClr val="FFFFFF"/>
                </a:solidFill>
                <a:effectLst/>
                <a:latin typeface="Calibri" panose="020B0604020202020204" pitchFamily="34" charset="0"/>
              </a:rPr>
              <a:t>      – Available in almost all microcontrollers and easy to interface with PCs</a:t>
            </a:r>
            <a:r>
              <a:rPr lang="en-US" altLang="en-US" sz="2800" dirty="0">
                <a:solidFill>
                  <a:srgbClr val="FFFFFF"/>
                </a:solidFill>
                <a:latin typeface="Calibri" panose="020B0604020202020204" pitchFamily="34" charset="0"/>
              </a:rPr>
              <a:t> 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rgbClr val="FFFFFF"/>
                </a:solidFill>
                <a:effectLst/>
                <a:latin typeface="Calibri" panose="020B0604020202020204" pitchFamily="34" charset="0"/>
              </a:rPr>
              <a:t> (via USB-UART).</a:t>
            </a:r>
          </a:p>
        </p:txBody>
      </p:sp>
    </p:spTree>
    <p:extLst>
      <p:ext uri="{BB962C8B-B14F-4D97-AF65-F5344CB8AC3E}">
        <p14:creationId xmlns:p14="http://schemas.microsoft.com/office/powerpoint/2010/main" val="99995055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284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9BDE4B-C6AA-3ED1-FDBE-B6EA38C721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z="2800">
                <a:solidFill>
                  <a:srgbClr val="FFFFFF"/>
                </a:solidFill>
                <a:latin typeface="Calibri"/>
              </a:rPr>
              <a:t>Drawbacks </a:t>
            </a:r>
            <a:endParaRPr lang="en-IN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2D7EEAD8-0D89-6612-1209-27BE14E82D54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920496" y="1982103"/>
            <a:ext cx="10591554" cy="378565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Courier New" panose="02070309020205020404" pitchFamily="49" charset="0"/>
              <a:buChar char="o"/>
              <a:tabLst/>
            </a:pP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rgbClr val="FFFFFF"/>
                </a:solidFill>
                <a:effectLst/>
                <a:latin typeface="Calibri" panose="020B0604020202020204" pitchFamily="34" charset="0"/>
              </a:rPr>
              <a:t>Limited data speed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rgbClr val="FFFFFF"/>
                </a:solidFill>
                <a:effectLst/>
                <a:latin typeface="Calibri" panose="020B0604020202020204" pitchFamily="34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lang="en-US" altLang="en-US" sz="2800" dirty="0">
                <a:solidFill>
                  <a:srgbClr val="FFFFFF"/>
                </a:solidFill>
                <a:latin typeface="Calibri" panose="020B0604020202020204" pitchFamily="34" charset="0"/>
              </a:rPr>
              <a:t>        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rgbClr val="FFFFFF"/>
                </a:solidFill>
                <a:effectLst/>
                <a:latin typeface="Calibri" panose="020B0604020202020204" pitchFamily="34" charset="0"/>
              </a:rPr>
              <a:t>– Much slower compared to SPI or USB; not suitable for high-speed communication.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Courier New" panose="02070309020205020404" pitchFamily="49" charset="0"/>
              <a:buChar char="o"/>
              <a:tabLst/>
            </a:pP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rgbClr val="FFFFFF"/>
                </a:solidFill>
                <a:effectLst/>
                <a:latin typeface="Calibri" panose="020B0604020202020204" pitchFamily="34" charset="0"/>
              </a:rPr>
              <a:t>Short distance without drivers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rgbClr val="FFFFFF"/>
                </a:solidFill>
                <a:effectLst/>
                <a:latin typeface="Calibri" panose="020B0604020202020204" pitchFamily="34" charset="0"/>
              </a:rPr>
              <a:t> </a:t>
            </a:r>
            <a:endParaRPr lang="en-US" altLang="en-US" sz="2000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lang="en-US" altLang="en-US" sz="2800" dirty="0">
                <a:solidFill>
                  <a:srgbClr val="FFFFFF"/>
                </a:solidFill>
                <a:latin typeface="Calibri" panose="020B0604020202020204" pitchFamily="34" charset="0"/>
              </a:rPr>
              <a:t>       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rgbClr val="FFFFFF"/>
                </a:solidFill>
                <a:effectLst/>
                <a:latin typeface="Calibri" panose="020B0604020202020204" pitchFamily="34" charset="0"/>
              </a:rPr>
              <a:t>– Basic UART signals cannot travel long distances without RS-232/RS-485 converters.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Courier New" panose="02070309020205020404" pitchFamily="49" charset="0"/>
              <a:buChar char="o"/>
              <a:tabLst/>
            </a:pP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rgbClr val="FFFFFF"/>
                </a:solidFill>
                <a:effectLst/>
                <a:latin typeface="Calibri" panose="020B0604020202020204" pitchFamily="34" charset="0"/>
              </a:rPr>
              <a:t>Supports only point-to-point communication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rgbClr val="FFFFFF"/>
                </a:solidFill>
                <a:effectLst/>
                <a:latin typeface="Calibri" panose="020B0604020202020204" pitchFamily="34" charset="0"/>
              </a:rPr>
              <a:t> 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lang="en-US" altLang="en-US" sz="2800" dirty="0">
                <a:solidFill>
                  <a:srgbClr val="FFFFFF"/>
                </a:solidFill>
                <a:latin typeface="Calibri" panose="020B0604020202020204" pitchFamily="34" charset="0"/>
              </a:rPr>
              <a:t>       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rgbClr val="FFFFFF"/>
                </a:solidFill>
                <a:effectLst/>
                <a:latin typeface="Calibri" panose="020B0604020202020204" pitchFamily="34" charset="0"/>
              </a:rPr>
              <a:t>– Cannot easily connect multiple devices on the same bus.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Courier New" panose="02070309020205020404" pitchFamily="49" charset="0"/>
              <a:buChar char="o"/>
              <a:tabLst/>
            </a:pP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rgbClr val="FFFFFF"/>
                </a:solidFill>
                <a:effectLst/>
                <a:latin typeface="Calibri" panose="020B0604020202020204" pitchFamily="34" charset="0"/>
              </a:rPr>
              <a:t>Requires matching settings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rgbClr val="FFFFFF"/>
                </a:solidFill>
                <a:effectLst/>
                <a:latin typeface="Calibri" panose="020B0604020202020204" pitchFamily="34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lang="en-US" altLang="en-US" sz="2800" dirty="0">
                <a:solidFill>
                  <a:srgbClr val="FFFFFF"/>
                </a:solidFill>
                <a:latin typeface="Calibri" panose="020B0604020202020204" pitchFamily="34" charset="0"/>
              </a:rPr>
              <a:t>      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rgbClr val="FFFFFF"/>
                </a:solidFill>
                <a:effectLst/>
                <a:latin typeface="Calibri" panose="020B0604020202020204" pitchFamily="34" charset="0"/>
              </a:rPr>
              <a:t>– Both devices must use the same baud rate, parity, stop bits; mismatches cause errors.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Courier New" panose="02070309020205020404" pitchFamily="49" charset="0"/>
              <a:buChar char="o"/>
              <a:tabLst/>
            </a:pP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rgbClr val="FFFFFF"/>
                </a:solidFill>
                <a:effectLst/>
                <a:latin typeface="Calibri" panose="020B0604020202020204" pitchFamily="34" charset="0"/>
              </a:rPr>
              <a:t>Higher overhead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lang="en-US" altLang="en-US" sz="2800" b="1" dirty="0">
                <a:solidFill>
                  <a:srgbClr val="FFFFFF"/>
                </a:solidFill>
                <a:latin typeface="Calibri" panose="020B0604020202020204" pitchFamily="34" charset="0"/>
              </a:rPr>
              <a:t>    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rgbClr val="FFFFFF"/>
                </a:solidFill>
                <a:effectLst/>
                <a:latin typeface="Calibri" panose="020B0604020202020204" pitchFamily="34" charset="0"/>
              </a:rPr>
              <a:t> – Start/stop/parity bits add extra bits, reducing effective data throughput.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Courier New" panose="02070309020205020404" pitchFamily="49" charset="0"/>
              <a:buChar char="o"/>
              <a:tabLst/>
            </a:pP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rgbClr val="FFFFFF"/>
                </a:solidFill>
                <a:effectLst/>
                <a:latin typeface="Calibri" panose="020B0604020202020204" pitchFamily="34" charset="0"/>
              </a:rPr>
              <a:t>Less noise immunity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rgbClr val="FFFFFF"/>
                </a:solidFill>
                <a:effectLst/>
                <a:latin typeface="Calibri" panose="020B0604020202020204" pitchFamily="34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lang="en-US" altLang="en-US" sz="2800" dirty="0">
                <a:solidFill>
                  <a:srgbClr val="FFFFFF"/>
                </a:solidFill>
                <a:latin typeface="Calibri" panose="020B0604020202020204" pitchFamily="34" charset="0"/>
              </a:rPr>
              <a:t>     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rgbClr val="FFFFFF"/>
                </a:solidFill>
                <a:effectLst/>
                <a:latin typeface="Calibri" panose="020B0604020202020204" pitchFamily="34" charset="0"/>
              </a:rPr>
              <a:t>– More sensitive to electrical noise compared to differential protocols like RS-485 or CAN.</a:t>
            </a:r>
          </a:p>
        </p:txBody>
      </p:sp>
    </p:spTree>
    <p:extLst>
      <p:ext uri="{BB962C8B-B14F-4D97-AF65-F5344CB8AC3E}">
        <p14:creationId xmlns:p14="http://schemas.microsoft.com/office/powerpoint/2010/main" val="257534162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284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9D90F0-54D7-2268-A52C-413C2163BE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z="2800">
                <a:solidFill>
                  <a:srgbClr val="FFFFFF"/>
                </a:solidFill>
                <a:latin typeface="Calibri"/>
              </a:rPr>
              <a:t>Future scope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CD2A362-76B3-ABD2-5439-887F5C65FE7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+mj-lt"/>
              <a:buAutoNum type="arabicPeriod"/>
            </a:pPr>
            <a:r>
              <a:rPr lang="en-US" b="1" dirty="0" sz="2800">
                <a:solidFill>
                  <a:srgbClr val="FFFFFF"/>
                </a:solidFill>
                <a:latin typeface="Calibri"/>
              </a:rPr>
              <a:t>Continued use in embedded and IoT devices</a:t>
            </a:r>
            <a:r>
              <a:rPr lang="en-US" dirty="0" sz="2800">
                <a:solidFill>
                  <a:srgbClr val="FFFFFF"/>
                </a:solidFill>
                <a:latin typeface="Calibri"/>
              </a:rPr>
              <a:t> – UART will remain a standard interface for microcontrollers, sensors, and communication modules due to its simplicity and low power use.</a:t>
            </a:r>
          </a:p>
          <a:p>
            <a:pPr>
              <a:buFont typeface="+mj-lt"/>
              <a:buAutoNum type="arabicPeriod"/>
            </a:pPr>
            <a:r>
              <a:rPr lang="en-US" b="1" dirty="0" sz="2800">
                <a:solidFill>
                  <a:srgbClr val="FFFFFF"/>
                </a:solidFill>
                <a:latin typeface="Calibri"/>
              </a:rPr>
              <a:t>Stronger role in debugging and system diagnostics</a:t>
            </a:r>
            <a:r>
              <a:rPr lang="en-US" dirty="0" sz="2800">
                <a:solidFill>
                  <a:srgbClr val="FFFFFF"/>
                </a:solidFill>
                <a:latin typeface="Calibri"/>
              </a:rPr>
              <a:t> – UART will keep being essential for firmware loading, logging, and device debugging in future embedded systems.</a:t>
            </a:r>
          </a:p>
          <a:p>
            <a:pPr>
              <a:buFont typeface="+mj-lt"/>
              <a:buAutoNum type="arabicPeriod"/>
            </a:pPr>
            <a:r>
              <a:rPr lang="en-US" b="1" dirty="0" sz="2800">
                <a:solidFill>
                  <a:srgbClr val="FFFFFF"/>
                </a:solidFill>
                <a:latin typeface="Calibri"/>
              </a:rPr>
              <a:t>Improved reliability and efficiency</a:t>
            </a:r>
            <a:r>
              <a:rPr lang="en-US" dirty="0" sz="2800">
                <a:solidFill>
                  <a:srgbClr val="FFFFFF"/>
                </a:solidFill>
                <a:latin typeface="Calibri"/>
              </a:rPr>
              <a:t> – Future UARTs may offer better noise immunity, adaptive baud-rate control, and enhanced FIFO/DMA support for more stable communication.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34352448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284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1F4346-F06D-CA24-AB23-A17BE68F3E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74976" y="2781886"/>
            <a:ext cx="9922764" cy="1294228"/>
          </a:xfrm>
        </p:spPr>
        <p:txBody>
          <a:bodyPr/>
          <a:lstStyle/>
          <a:p>
            <a:r>
              <a:rPr lang="en-US" dirty="0" sz="2800">
                <a:solidFill>
                  <a:srgbClr val="FFFFFF"/>
                </a:solidFill>
                <a:latin typeface="Calibri"/>
              </a:rPr>
              <a:t>______THANK YOU________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27C6EC9-048D-DF27-D7EA-7F05D1D17D9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34440" y="655320"/>
            <a:ext cx="9776460" cy="5631180"/>
          </a:xfrm>
        </p:spPr>
        <p:txBody>
          <a:bodyPr/>
          <a:lstStyle/>
          <a:p>
            <a:pPr marL="0" indent="0">
              <a:buNone/>
            </a:pPr>
            <a:r>
              <a:rPr lang="en-US" dirty="0" sz="2800">
                <a:solidFill>
                  <a:srgbClr val="FFFFFF"/>
                </a:solidFill>
                <a:latin typeface="Calibri"/>
              </a:rPr>
              <a:t>                                                                    </a:t>
            </a:r>
            <a:endParaRPr lang="en-IN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17ABD45-C50A-46F1-AD8C-1FFCC7C23DFC}"/>
              </a:ext>
            </a:extLst>
          </p:cNvPr>
          <p:cNvSpPr txBox="1"/>
          <p:nvPr/>
        </p:nvSpPr>
        <p:spPr>
          <a:xfrm>
            <a:off x="8610600" y="4526280"/>
            <a:ext cx="234696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z="2800">
                <a:solidFill>
                  <a:srgbClr val="FFFFFF"/>
                </a:solidFill>
                <a:latin typeface="Calibri"/>
              </a:rPr>
              <a:t>By</a:t>
            </a:r>
          </a:p>
          <a:p>
            <a:r>
              <a:rPr lang="en-US" dirty="0" err="1" sz="2800">
                <a:solidFill>
                  <a:srgbClr val="FFFFFF"/>
                </a:solidFill>
                <a:latin typeface="Calibri"/>
              </a:rPr>
              <a:t>G.Chandini</a:t>
            </a:r>
            <a:endParaRPr lang="en-US" dirty="0"/>
          </a:p>
          <a:p>
            <a:r>
              <a:rPr lang="en-US" dirty="0" sz="2800">
                <a:solidFill>
                  <a:srgbClr val="FFFFFF"/>
                </a:solidFill>
                <a:latin typeface="Calibri"/>
              </a:rPr>
              <a:t>AC12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50369530"/>
      </p:ext>
    </p:extLst>
  </p:cSld>
  <p:clrMapOvr>
    <a:masterClrMapping/>
  </p:clrMapOvr>
</p:sld>
</file>

<file path=ppt/theme/theme1.xml><?xml version="1.0" encoding="utf-8"?>
<a:theme xmlns:a="http://schemas.openxmlformats.org/drawingml/2006/main" name="BjornVTI">
  <a:themeElements>
    <a:clrScheme name="Bjorn">
      <a:dk1>
        <a:sysClr val="windowText" lastClr="000000"/>
      </a:dk1>
      <a:lt1>
        <a:sysClr val="window" lastClr="FFFFFF"/>
      </a:lt1>
      <a:dk2>
        <a:srgbClr val="252747"/>
      </a:dk2>
      <a:lt2>
        <a:srgbClr val="ECE4E9"/>
      </a:lt2>
      <a:accent1>
        <a:srgbClr val="736EB6"/>
      </a:accent1>
      <a:accent2>
        <a:srgbClr val="AB5991"/>
      </a:accent2>
      <a:accent3>
        <a:srgbClr val="AC9F39"/>
      </a:accent3>
      <a:accent4>
        <a:srgbClr val="756029"/>
      </a:accent4>
      <a:accent5>
        <a:srgbClr val="E87850"/>
      </a:accent5>
      <a:accent6>
        <a:srgbClr val="C6922A"/>
      </a:accent6>
      <a:hlink>
        <a:srgbClr val="736EB6"/>
      </a:hlink>
      <a:folHlink>
        <a:srgbClr val="AB5991"/>
      </a:folHlink>
    </a:clrScheme>
    <a:fontScheme name="Neue Haas">
      <a:majorFont>
        <a:latin typeface="Neue Haas Grotesk Text Pro"/>
        <a:ea typeface=""/>
        <a:cs typeface=""/>
      </a:majorFont>
      <a:minorFont>
        <a:latin typeface="Neue Haas Grotesk Text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BjornVTI" id="{D01443FD-65CF-4AEF-9B9D-4466C96F9785}" vid="{36EF4262-385E-40E6-B073-FB18FD98BF4C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234</TotalTime>
  <Words>1068</Words>
  <Application>Microsoft Office PowerPoint</Application>
  <PresentationFormat>Widescreen</PresentationFormat>
  <Paragraphs>86</Paragraphs>
  <Slides>18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2" baseType="lpstr">
      <vt:lpstr>Arial</vt:lpstr>
      <vt:lpstr>Courier New</vt:lpstr>
      <vt:lpstr>Neue Haas Grotesk Text Pro</vt:lpstr>
      <vt:lpstr>BjornVTI</vt:lpstr>
      <vt:lpstr>UNIVERSAL ASYNCHRONOUS RECIEVER AND TRANSMITTER(UART)</vt:lpstr>
      <vt:lpstr>Introduction</vt:lpstr>
      <vt:lpstr>PowerPoint Presentation</vt:lpstr>
      <vt:lpstr>Why UART is a asynchronous</vt:lpstr>
      <vt:lpstr>FIFO in UART   </vt:lpstr>
      <vt:lpstr>PowerPoint Presentation</vt:lpstr>
      <vt:lpstr>TX(Transmiter)  </vt:lpstr>
      <vt:lpstr>PowerPoint Presentation</vt:lpstr>
      <vt:lpstr>RX (Receiver) </vt:lpstr>
      <vt:lpstr>Baud Rate </vt:lpstr>
      <vt:lpstr>   Why Sampling Is Needed </vt:lpstr>
      <vt:lpstr>PowerPoint Presentation</vt:lpstr>
      <vt:lpstr>PowerPoint Presentation</vt:lpstr>
      <vt:lpstr>Control signals for tx and rx</vt:lpstr>
      <vt:lpstr>advantages</vt:lpstr>
      <vt:lpstr>Drawbacks </vt:lpstr>
      <vt:lpstr>Future scope</vt:lpstr>
      <vt:lpstr>______THANK YOU________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Appari Karthik</dc:creator>
  <cp:lastModifiedBy>Appari Karthik</cp:lastModifiedBy>
  <cp:revision>1</cp:revision>
  <dcterms:created xsi:type="dcterms:W3CDTF">2025-11-16T08:19:57Z</dcterms:created>
  <dcterms:modified xsi:type="dcterms:W3CDTF">2025-11-16T12:14:16Z</dcterms:modified>
</cp:coreProperties>
</file>